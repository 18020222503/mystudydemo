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M"/>
  </p:sldMasterIdLst>
  <p:sldIdLst>
    <p:sldId id="256" r:id="rIdS1"/>
    <p:sldId id="257" r:id="rIdS2"/>
    <p:sldId id="258" r:id="rIdS3"/>
    <p:sldId id="259" r:id="rIdS4"/>
    <p:sldId id="260" r:id="rIdS5"/>
    <p:sldId id="261" r:id="rIdS6"/>
    <p:sldId id="262" r:id="rIdS7"/>
    <p:sldId id="263" r:id="rIdS8"/>
    <p:sldId id="264" r:id="rIdS9"/>
    <p:sldId id="265" r:id="rIdS10"/>
  </p:sldIdLst>
  <p:sldSz cx="12191695" cy="6858000"/>
  <p:notesSz cx="6858000" cy="12191695"/>
</p:presentation>
</file>

<file path=ppt/_rels/presentation.xml.rels><?xml version="1.0" encoding="UTF-8" standalone="yes"?>
<Relationships xmlns="http://schemas.openxmlformats.org/package/2006/relationships">
<Relationship Id="rIdM" Type="http://schemas.openxmlformats.org/officeDocument/2006/relationships/slideMaster" Target="slideMasters/slideMaster1.xml"/>
<Relationship Id="rIdT" Type="http://schemas.openxmlformats.org/officeDocument/2006/relationships/theme" Target="theme/theme1.xml"/>
<Relationship Id="rIdS1" Type="http://schemas.openxmlformats.org/officeDocument/2006/relationships/slide" Target="slides/slide1.xml"/><Relationship Id="rIdS2" Type="http://schemas.openxmlformats.org/officeDocument/2006/relationships/slide" Target="slides/slide2.xml"/><Relationship Id="rIdS3" Type="http://schemas.openxmlformats.org/officeDocument/2006/relationships/slide" Target="slides/slide3.xml"/><Relationship Id="rIdS4" Type="http://schemas.openxmlformats.org/officeDocument/2006/relationships/slide" Target="slides/slide4.xml"/><Relationship Id="rIdS5" Type="http://schemas.openxmlformats.org/officeDocument/2006/relationships/slide" Target="slides/slide5.xml"/><Relationship Id="rIdS6" Type="http://schemas.openxmlformats.org/officeDocument/2006/relationships/slide" Target="slides/slide6.xml"/><Relationship Id="rIdS7" Type="http://schemas.openxmlformats.org/officeDocument/2006/relationships/slide" Target="slides/slide7.xml"/><Relationship Id="rIdS8" Type="http://schemas.openxmlformats.org/officeDocument/2006/relationships/slide" Target="slides/slide8.xml"/><Relationship Id="rIdS9" Type="http://schemas.openxmlformats.org/officeDocument/2006/relationships/slide" Target="slides/slide9.xml"/><Relationship Id="rIdS10" Type="http://schemas.openxmlformats.org/officeDocument/2006/relationships/slide" Target="slides/slide10.xml"/>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c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20"/>
          </a:solidFill>
          <a:ln>
            <a:noFill/>
          </a:ln>
        </p:spPr>
        <p:txBody>
          <a:bodyPr/>
          <a:lstStyle/>
          <a:p/>
        </p:txBody>
      </p:sp>
      <p:sp>
        <p:nvSpPr>
          <p:cNvPr id="1" name="rc"/>
          <p:cNvSpPr/>
          <p:nvPr/>
        </p:nvSpPr>
        <p:spPr>
          <a:xfrm>
            <a:off x="0" y="2468880"/>
            <a:ext cx="12191695" cy="45720"/>
          </a:xfrm>
          <a:prstGeom prst="rect">
            <a:avLst/>
          </a:prstGeom>
          <a:solidFill>
            <a:srgbClr val="4EA1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x"/>
          <p:cNvSpPr txBox="1"/>
          <p:nvPr/>
        </p:nvSpPr>
        <p:spPr>
          <a:xfrm>
            <a:off x="822960" y="1828800"/>
            <a:ext cx="10515600" cy="100584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rmAutofit/>
          </a:bodyPr>
          <a:lstStyle/>
          <a:p>
            <a:pPr algn="l">
              <a:buNone/>
            </a:pPr>
            <a:r>
              <a:rPr lang="zh-CN" sz="4000" b="1" i="0">
                <a:solidFill>
                  <a:srgbClr val="FFFFFF"/>
                </a:solidFill>
                <a:latin typeface="微软雅黑"/>
                <a:ea typeface="微软雅黑"/>
              </a:rPr>
              <a:t>LumiGo 客户端热更技术框架</a:t>
            </a:r>
          </a:p>
        </p:txBody>
      </p:sp>
      <p:sp>
        <p:nvSpPr>
          <p:cNvPr id="3" name="tx"/>
          <p:cNvSpPr txBox="1"/>
          <p:nvPr/>
        </p:nvSpPr>
        <p:spPr>
          <a:xfrm>
            <a:off x="822960" y="2880360"/>
            <a:ext cx="10515600" cy="64008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rmAutofit/>
          </a:bodyPr>
          <a:lstStyle/>
          <a:p>
            <a:pPr algn="l">
              <a:buNone/>
            </a:pPr>
            <a:r>
              <a:rPr lang="zh-CN" sz="2000" b="0" i="0">
                <a:solidFill>
                  <a:srgbClr val="4EA1FF"/>
                </a:solidFill>
                <a:latin typeface="微软雅黑"/>
                <a:ea typeface="微软雅黑"/>
              </a:rPr>
              <a:t>HybridCLR（华佗）+ Addressables 远端 Catalog + CDN</a:t>
            </a:r>
          </a:p>
        </p:txBody>
      </p:sp>
      <p:sp>
        <p:nvSpPr>
          <p:cNvPr id="4" name="tx"/>
          <p:cNvSpPr txBox="1"/>
          <p:nvPr/>
        </p:nvSpPr>
        <p:spPr>
          <a:xfrm>
            <a:off x="822960" y="3657600"/>
            <a:ext cx="10515600" cy="128016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rmAutofit/>
          </a:bodyPr>
          <a:lstStyle/>
          <a:p>
            <a:pPr algn="l" marL="228600" indent="-228600">
              <a:buFont typeface="Arial"/>
              <a:buChar char="•"/>
            </a:pPr>
            <a:r>
              <a:rPr lang="zh-CN" sz="1400" b="0" i="0">
                <a:solidFill>
                  <a:srgbClr val="E6ECF5"/>
                </a:solidFill>
                <a:latin typeface="微软雅黑"/>
                <a:ea typeface="微软雅黑"/>
              </a:rPr>
              <a:t>C# 代码热更：DLL 当普通资源走 CDN，运行时 Assembly.Load</a:t>
            </a:r>
          </a:p>
          <a:p>
            <a:pPr algn="l" marL="228600" indent="-228600">
              <a:buFont typeface="Arial"/>
              <a:buChar char="•"/>
              <a:spcBef>
                <a:spcPts val="600"/>
              </a:spcBef>
            </a:pPr>
            <a:r>
              <a:rPr lang="zh-CN" sz="1400" b="0" i="0">
                <a:solidFill>
                  <a:srgbClr val="E6ECF5"/>
                </a:solidFill>
                <a:latin typeface="微软雅黑"/>
                <a:ea typeface="微软雅黑"/>
              </a:rPr>
              <a:t>先补 AOT 补充元数据，再加载热更程序集，反射进入热更世界</a:t>
            </a:r>
          </a:p>
          <a:p>
            <a:pPr algn="l" marL="228600" indent="-228600">
              <a:buFont typeface="Arial"/>
              <a:buChar char="•"/>
              <a:spcBef>
                <a:spcPts val="600"/>
              </a:spcBef>
            </a:pPr>
            <a:r>
              <a:rPr lang="zh-CN" sz="1400" b="0" i="0">
                <a:solidFill>
                  <a:srgbClr val="E6ECF5"/>
                </a:solidFill>
                <a:latin typeface="微软雅黑"/>
                <a:ea typeface="微软雅黑"/>
              </a:rPr>
              <a:t>多 CDN 切线、分帧加载、随时修复 —— 工业级完整实现</a:t>
            </a:r>
          </a:p>
        </p:txBody>
      </p:sp>
      <p:sp>
        <p:nvSpPr>
          <p:cNvPr id="5" name="tx"/>
          <p:cNvSpPr txBox="1"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rmAutofit/>
          </a:bodyPr>
          <a:lstStyle/>
          <a:p>
            <a:pPr algn="l">
              <a:buNone/>
            </a:pPr>
            <a:r>
              <a:rPr lang="zh-CN" sz="1100" b="0" i="0">
                <a:solidFill>
                  <a:srgbClr val="9AA7BD"/>
                </a:solidFill>
                <a:latin typeface="微软雅黑"/>
                <a:ea typeface="微软雅黑"/>
              </a:rPr>
              <a:t>技术分享 · 客户端 / 热更 / 发布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c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20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rc"/>
          <p:cNvSpPr/>
          <p:nvPr/>
        </p:nvSpPr>
        <p:spPr>
          <a:xfrm>
            <a:off x="0" y="502920"/>
            <a:ext cx="128016" cy="868680"/>
          </a:xfrm>
          <a:prstGeom prst="rect">
            <a:avLst/>
          </a:prstGeom>
          <a:solidFill>
            <a:srgbClr val="4EA1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tx"/>
          <p:cNvSpPr txBox="1"/>
          <p:nvPr/>
        </p:nvSpPr>
        <p:spPr>
          <a:xfrm>
            <a:off x="384048" y="457200"/>
            <a:ext cx="10058400" cy="50292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rmAutofit/>
          </a:bodyPr>
          <a:lstStyle/>
          <a:p>
            <a:pPr algn="l">
              <a:buNone/>
            </a:pPr>
            <a:r>
              <a:rPr lang="zh-CN" sz="2600" b="1" i="0">
                <a:solidFill>
                  <a:srgbClr val="FFFFFF"/>
                </a:solidFill>
                <a:latin typeface="微软雅黑"/>
                <a:ea typeface="微软雅黑"/>
              </a:rPr>
              <a:t>一句话结论</a:t>
            </a:r>
          </a:p>
        </p:txBody>
      </p:sp>
      <p:sp>
        <p:nvSpPr>
          <p:cNvPr id="9" name="tx"/>
          <p:cNvSpPr txBox="1"/>
          <p:nvPr/>
        </p:nvSpPr>
        <p:spPr>
          <a:xfrm>
            <a:off x="402336" y="987552"/>
            <a:ext cx="10515600" cy="36576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rmAutofit/>
          </a:bodyPr>
          <a:lstStyle/>
          <a:p>
            <a:pPr algn="l">
              <a:buNone/>
            </a:pPr>
            <a:r>
              <a:rPr lang="zh-CN" sz="1200" b="0" i="0">
                <a:solidFill>
                  <a:srgbClr val="4EA1FF"/>
                </a:solidFill>
                <a:latin typeface="微软雅黑"/>
                <a:ea typeface="微软雅黑"/>
              </a:rPr>
              <a:t>WHAT &amp; WHY</a:t>
            </a:r>
          </a:p>
        </p:txBody>
      </p:sp>
      <p:sp>
        <p:nvSpPr>
          <p:cNvPr id="10" name="tx"/>
          <p:cNvSpPr txBox="1"/>
          <p:nvPr/>
        </p:nvSpPr>
        <p:spPr>
          <a:xfrm>
            <a:off x="11155680" y="457200"/>
            <a:ext cx="914400" cy="36576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rmAutofit/>
          </a:bodyPr>
          <a:lstStyle/>
          <a:p>
            <a:pPr algn="r">
              <a:buNone/>
            </a:pPr>
            <a:r>
              <a:rPr lang="zh-CN" sz="1400" b="1" i="0">
                <a:solidFill>
                  <a:srgbClr val="9AA7BD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1" name="rc"/>
          <p:cNvSpPr/>
          <p:nvPr/>
        </p:nvSpPr>
        <p:spPr>
          <a:xfrm>
            <a:off x="548640" y="1737360"/>
            <a:ext cx="11064240" cy="1188720"/>
          </a:xfrm>
          <a:prstGeom prst="roundRect">
            <a:avLst/>
          </a:prstGeom>
          <a:solidFill>
            <a:srgbClr val="1B2233"/>
          </a:solidFill>
          <a:ln w="12700">
            <a:solidFill>
              <a:srgbClr val="4EA1FF"/>
            </a:solidFill>
          </a:ln>
        </p:spPr>
        <p:txBody>
          <a:bodyPr/>
          <a:lstStyle/>
          <a:p/>
        </p:txBody>
      </p:sp>
      <p:sp>
        <p:nvSpPr>
          <p:cNvPr id="12" name="tx"/>
          <p:cNvSpPr txBox="1"/>
          <p:nvPr/>
        </p:nvSpPr>
        <p:spPr>
          <a:xfrm>
            <a:off x="548640" y="1737360"/>
            <a:ext cx="11064240" cy="118872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normAutofit/>
          </a:bodyPr>
          <a:lstStyle/>
          <a:p>
            <a:pPr algn="ctr">
              <a:buNone/>
            </a:pPr>
            <a:r>
              <a:rPr lang="zh-CN" sz="1700" b="1" i="0">
                <a:solidFill>
                  <a:srgbClr val="FFFFFF"/>
                </a:solidFill>
                <a:latin typeface="微软雅黑"/>
                <a:ea typeface="微软雅黑"/>
              </a:rPr>
              <a:t>不给 DLL 单独造下载器 —— 把它当普通 Addressable 资源，走同一套 CDN 热更管线</a:t>
            </a:r>
          </a:p>
        </p:txBody>
      </p:sp>
      <p:sp>
        <p:nvSpPr>
          <p:cNvPr id="13" name="rc"/>
          <p:cNvSpPr/>
          <p:nvPr/>
        </p:nvSpPr>
        <p:spPr>
          <a:xfrm>
            <a:off x="548640" y="3200400"/>
            <a:ext cx="3566160" cy="2926080"/>
          </a:xfrm>
          <a:prstGeom prst="roundRect">
            <a:avLst/>
          </a:prstGeom>
          <a:solidFill>
            <a:srgbClr val="1B2233"/>
          </a:solidFill>
          <a:ln w="12700">
            <a:solidFill>
              <a:srgbClr val="32405C"/>
            </a:solidFill>
          </a:ln>
        </p:spPr>
        <p:txBody>
          <a:bodyPr/>
          <a:lstStyle/>
          <a:p/>
        </p:txBody>
      </p:sp>
      <p:sp>
        <p:nvSpPr>
          <p:cNvPr id="14" name="tx"/>
          <p:cNvSpPr txBox="1"/>
          <p:nvPr/>
        </p:nvSpPr>
        <p:spPr>
          <a:xfrm>
            <a:off x="548640" y="3200400"/>
            <a:ext cx="3566160" cy="292608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normAutofit/>
          </a:bodyPr>
          <a:lstStyle/>
          <a:p>
            <a:pPr algn="ctr">
              <a:buNone/>
            </a:pPr>
            <a:r>
              <a:rPr lang="zh-CN" sz="1600" b="1" i="0">
                <a:solidFill>
                  <a:srgbClr val="4EA1FF"/>
                </a:solidFill>
                <a:latin typeface="微软雅黑"/>
                <a:ea typeface="微软雅黑"/>
              </a:rPr>
              <a:t>打包侧 (Editor)</a:t>
            </a:r>
          </a:p>
          <a:p>
            <a:pPr algn="ctr">
              <a:buNone/>
              <a:spcBef>
                <a:spcPts val="300"/>
              </a:spcBef>
            </a:pPr>
            <a:r>
              <a:rPr lang="zh-CN" sz="1000" b="0" i="0">
                <a:solidFill>
                  <a:srgbClr val="9AA7BD"/>
                </a:solidFill>
                <a:latin typeface="微软雅黑"/>
                <a:ea typeface="微软雅黑"/>
              </a:rPr>
              <a:t>编译 DLL → 拷成 .bytes
→ 入 Addressable Group
→ 打 bundle → 上传 CDN</a:t>
            </a:r>
          </a:p>
        </p:txBody>
      </p:sp>
      <p:sp>
        <p:nvSpPr>
          <p:cNvPr id="15" name="rc"/>
          <p:cNvSpPr/>
          <p:nvPr/>
        </p:nvSpPr>
        <p:spPr>
          <a:xfrm>
            <a:off x="4297680" y="3200400"/>
            <a:ext cx="3566160" cy="2926080"/>
          </a:xfrm>
          <a:prstGeom prst="roundRect">
            <a:avLst/>
          </a:prstGeom>
          <a:solidFill>
            <a:srgbClr val="1B2233"/>
          </a:solidFill>
          <a:ln w="12700">
            <a:solidFill>
              <a:srgbClr val="32405C"/>
            </a:solidFill>
          </a:ln>
        </p:spPr>
        <p:txBody>
          <a:bodyPr/>
          <a:lstStyle/>
          <a:p/>
        </p:txBody>
      </p:sp>
      <p:sp>
        <p:nvSpPr>
          <p:cNvPr id="16" name="tx"/>
          <p:cNvSpPr txBox="1"/>
          <p:nvPr/>
        </p:nvSpPr>
        <p:spPr>
          <a:xfrm>
            <a:off x="4297680" y="3200400"/>
            <a:ext cx="3566160" cy="292608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normAutofit/>
          </a:bodyPr>
          <a:lstStyle/>
          <a:p>
            <a:pPr algn="ctr">
              <a:buNone/>
            </a:pPr>
            <a:r>
              <a:rPr lang="zh-CN" sz="1600" b="1" i="0">
                <a:solidFill>
                  <a:srgbClr val="FFB454"/>
                </a:solidFill>
                <a:latin typeface="微软雅黑"/>
                <a:ea typeface="微软雅黑"/>
              </a:rPr>
              <a:t>CDN</a:t>
            </a:r>
          </a:p>
          <a:p>
            <a:pPr algn="ctr">
              <a:buNone/>
              <a:spcBef>
                <a:spcPts val="300"/>
              </a:spcBef>
            </a:pPr>
            <a:r>
              <a:rPr lang="zh-CN" sz="1000" b="0" i="0">
                <a:solidFill>
                  <a:srgbClr val="9AA7BD"/>
                </a:solidFill>
                <a:latin typeface="微软雅黑"/>
                <a:ea typeface="微软雅黑"/>
              </a:rPr>
              <a:t>远端 Catalog（版本清单）
+ bundle 文件
真实域名由服务端下发</a:t>
            </a:r>
          </a:p>
        </p:txBody>
      </p:sp>
      <p:sp>
        <p:nvSpPr>
          <p:cNvPr id="17" name="rc"/>
          <p:cNvSpPr/>
          <p:nvPr/>
        </p:nvSpPr>
        <p:spPr>
          <a:xfrm>
            <a:off x="8046720" y="3200400"/>
            <a:ext cx="3566160" cy="2926080"/>
          </a:xfrm>
          <a:prstGeom prst="roundRect">
            <a:avLst/>
          </a:prstGeom>
          <a:solidFill>
            <a:srgbClr val="1B2233"/>
          </a:solidFill>
          <a:ln w="12700">
            <a:solidFill>
              <a:srgbClr val="32405C"/>
            </a:solidFill>
          </a:ln>
        </p:spPr>
        <p:txBody>
          <a:bodyPr/>
          <a:lstStyle/>
          <a:p/>
        </p:txBody>
      </p:sp>
      <p:sp>
        <p:nvSpPr>
          <p:cNvPr id="18" name="tx"/>
          <p:cNvSpPr txBox="1"/>
          <p:nvPr/>
        </p:nvSpPr>
        <p:spPr>
          <a:xfrm>
            <a:off x="8046720" y="3200400"/>
            <a:ext cx="3566160" cy="292608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normAutofit/>
          </a:bodyPr>
          <a:lstStyle/>
          <a:p>
            <a:pPr algn="ctr">
              <a:buNone/>
            </a:pPr>
            <a:r>
              <a:rPr lang="zh-CN" sz="1600" b="1" i="0">
                <a:solidFill>
                  <a:srgbClr val="53D08A"/>
                </a:solidFill>
                <a:latin typeface="微软雅黑"/>
                <a:ea typeface="微软雅黑"/>
              </a:rPr>
              <a:t>运行时侧 (Player)</a:t>
            </a:r>
          </a:p>
          <a:p>
            <a:pPr algn="ctr">
              <a:buNone/>
              <a:spcBef>
                <a:spcPts val="300"/>
              </a:spcBef>
            </a:pPr>
            <a:r>
              <a:rPr lang="zh-CN" sz="1000" b="0" i="0">
                <a:solidFill>
                  <a:srgbClr val="9AA7BD"/>
                </a:solidFill>
                <a:latin typeface="微软雅黑"/>
                <a:ea typeface="微软雅黑"/>
              </a:rPr>
              <a:t>更新 Catalog → 下载 bundle
→ 取 DLL 字节
→ 补元数据 → Assembly.Load</a:t>
            </a:r>
          </a:p>
        </p:txBody>
      </p:sp>
      <p:sp>
        <p:nvSpPr>
          <p:cNvPr id="19" name="ar"/>
          <p:cNvSpPr/>
          <p:nvPr/>
        </p:nvSpPr>
        <p:spPr>
          <a:xfrm>
            <a:off x="4160520" y="4389120"/>
            <a:ext cx="320040" cy="548640"/>
          </a:xfrm>
          <a:prstGeom prst="rightArrow">
            <a:avLst/>
          </a:prstGeom>
          <a:solidFill>
            <a:srgbClr val="9AA7BD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ar"/>
          <p:cNvSpPr/>
          <p:nvPr/>
        </p:nvSpPr>
        <p:spPr>
          <a:xfrm>
            <a:off x="7909560" y="4389120"/>
            <a:ext cx="320040" cy="548640"/>
          </a:xfrm>
          <a:prstGeom prst="rightArrow">
            <a:avLst/>
          </a:prstGeom>
          <a:solidFill>
            <a:srgbClr val="9AA7BD"/>
          </a:solidFill>
          <a:ln>
            <a:noFill/>
          </a:ln>
        </p:spPr>
        <p:txBody>
          <a:bodyPr/>
          <a:lstStyle/>
          <a:p/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c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20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rc"/>
          <p:cNvSpPr/>
          <p:nvPr/>
        </p:nvSpPr>
        <p:spPr>
          <a:xfrm>
            <a:off x="0" y="502920"/>
            <a:ext cx="128016" cy="868680"/>
          </a:xfrm>
          <a:prstGeom prst="rect">
            <a:avLst/>
          </a:prstGeom>
          <a:solidFill>
            <a:srgbClr val="4EA1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tx"/>
          <p:cNvSpPr txBox="1"/>
          <p:nvPr/>
        </p:nvSpPr>
        <p:spPr>
          <a:xfrm>
            <a:off x="384048" y="457200"/>
            <a:ext cx="10058400" cy="50292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rmAutofit/>
          </a:bodyPr>
          <a:lstStyle/>
          <a:p>
            <a:pPr algn="l">
              <a:buNone/>
            </a:pPr>
            <a:r>
              <a:rPr lang="zh-CN" sz="2600" b="1" i="0">
                <a:solidFill>
                  <a:srgbClr val="FFFFFF"/>
                </a:solidFill>
                <a:latin typeface="微软雅黑"/>
                <a:ea typeface="微软雅黑"/>
              </a:rPr>
              <a:t>技术框架总览</a:t>
            </a:r>
          </a:p>
        </p:txBody>
      </p:sp>
      <p:sp>
        <p:nvSpPr>
          <p:cNvPr id="24" name="tx"/>
          <p:cNvSpPr txBox="1"/>
          <p:nvPr/>
        </p:nvSpPr>
        <p:spPr>
          <a:xfrm>
            <a:off x="402336" y="987552"/>
            <a:ext cx="10515600" cy="36576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rmAutofit/>
          </a:bodyPr>
          <a:lstStyle/>
          <a:p>
            <a:pPr algn="l">
              <a:buNone/>
            </a:pPr>
            <a:r>
              <a:rPr lang="zh-CN" sz="1200" b="0" i="0">
                <a:solidFill>
                  <a:srgbClr val="4EA1FF"/>
                </a:solidFill>
                <a:latin typeface="微软雅黑"/>
                <a:ea typeface="微软雅黑"/>
              </a:rPr>
              <a:t>ARCHITECTURE</a:t>
            </a:r>
          </a:p>
        </p:txBody>
      </p:sp>
      <p:sp>
        <p:nvSpPr>
          <p:cNvPr id="25" name="tx"/>
          <p:cNvSpPr txBox="1"/>
          <p:nvPr/>
        </p:nvSpPr>
        <p:spPr>
          <a:xfrm>
            <a:off x="11155680" y="457200"/>
            <a:ext cx="914400" cy="36576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rmAutofit/>
          </a:bodyPr>
          <a:lstStyle/>
          <a:p>
            <a:pPr algn="r">
              <a:buNone/>
            </a:pPr>
            <a:r>
              <a:rPr lang="zh-CN" sz="1400" b="1" i="0">
                <a:solidFill>
                  <a:srgbClr val="9AA7BD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26" name="rc"/>
          <p:cNvSpPr/>
          <p:nvPr/>
        </p:nvSpPr>
        <p:spPr>
          <a:xfrm>
            <a:off x="548640" y="1600200"/>
            <a:ext cx="3566160" cy="1371600"/>
          </a:xfrm>
          <a:prstGeom prst="roundRect">
            <a:avLst/>
          </a:prstGeom>
          <a:solidFill>
            <a:srgbClr val="1B2233"/>
          </a:solidFill>
          <a:ln w="12700">
            <a:solidFill>
              <a:srgbClr val="32405C"/>
            </a:solidFill>
          </a:ln>
        </p:spPr>
        <p:txBody>
          <a:bodyPr/>
          <a:lstStyle/>
          <a:p/>
        </p:txBody>
      </p:sp>
      <p:sp>
        <p:nvSpPr>
          <p:cNvPr id="27" name="tx"/>
          <p:cNvSpPr txBox="1"/>
          <p:nvPr/>
        </p:nvSpPr>
        <p:spPr>
          <a:xfrm>
            <a:off x="548640" y="1600200"/>
            <a:ext cx="3566160" cy="137160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normAutofit/>
          </a:bodyPr>
          <a:lstStyle/>
          <a:p>
            <a:pPr algn="ctr">
              <a:buNone/>
            </a:pPr>
            <a:r>
              <a:rPr lang="zh-CN" sz="1600" b="1" i="0">
                <a:solidFill>
                  <a:srgbClr val="4EA1FF"/>
                </a:solidFill>
                <a:latin typeface="微软雅黑"/>
                <a:ea typeface="微软雅黑"/>
              </a:rPr>
              <a:t>HybridCLR</a:t>
            </a:r>
          </a:p>
          <a:p>
            <a:pPr algn="ctr">
              <a:buNone/>
              <a:spcBef>
                <a:spcPts val="300"/>
              </a:spcBef>
            </a:pPr>
            <a:r>
              <a:rPr lang="zh-CN" sz="1000" b="0" i="0">
                <a:solidFill>
                  <a:srgbClr val="9AA7BD"/>
                </a:solidFill>
                <a:latin typeface="微软雅黑"/>
                <a:ea typeface="微软雅黑"/>
              </a:rPr>
              <a:t>C# 代码热更引擎
(前身: 华佗 huatuo)</a:t>
            </a:r>
          </a:p>
        </p:txBody>
      </p:sp>
      <p:sp>
        <p:nvSpPr>
          <p:cNvPr id="28" name="rc"/>
          <p:cNvSpPr/>
          <p:nvPr/>
        </p:nvSpPr>
        <p:spPr>
          <a:xfrm>
            <a:off x="4297680" y="1600200"/>
            <a:ext cx="3566160" cy="1371600"/>
          </a:xfrm>
          <a:prstGeom prst="roundRect">
            <a:avLst/>
          </a:prstGeom>
          <a:solidFill>
            <a:srgbClr val="1B2233"/>
          </a:solidFill>
          <a:ln w="12700">
            <a:solidFill>
              <a:srgbClr val="32405C"/>
            </a:solidFill>
          </a:ln>
        </p:spPr>
        <p:txBody>
          <a:bodyPr/>
          <a:lstStyle/>
          <a:p/>
        </p:txBody>
      </p:sp>
      <p:sp>
        <p:nvSpPr>
          <p:cNvPr id="29" name="tx"/>
          <p:cNvSpPr txBox="1"/>
          <p:nvPr/>
        </p:nvSpPr>
        <p:spPr>
          <a:xfrm>
            <a:off x="4297680" y="1600200"/>
            <a:ext cx="3566160" cy="137160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normAutofit/>
          </a:bodyPr>
          <a:lstStyle/>
          <a:p>
            <a:pPr algn="ctr">
              <a:buNone/>
            </a:pPr>
            <a:r>
              <a:rPr lang="zh-CN" sz="1600" b="1" i="0">
                <a:solidFill>
                  <a:srgbClr val="4EA1FF"/>
                </a:solidFill>
                <a:latin typeface="微软雅黑"/>
                <a:ea typeface="微软雅黑"/>
              </a:rPr>
              <a:t>Addressables</a:t>
            </a:r>
          </a:p>
          <a:p>
            <a:pPr algn="ctr">
              <a:buNone/>
              <a:spcBef>
                <a:spcPts val="300"/>
              </a:spcBef>
            </a:pPr>
            <a:r>
              <a:rPr lang="zh-CN" sz="1000" b="0" i="0">
                <a:solidFill>
                  <a:srgbClr val="9AA7BD"/>
                </a:solidFill>
                <a:latin typeface="微软雅黑"/>
                <a:ea typeface="微软雅黑"/>
              </a:rPr>
              <a:t>资源管理 + 远端 Catalog
+ bundle 下载/缓存</a:t>
            </a:r>
          </a:p>
        </p:txBody>
      </p:sp>
      <p:sp>
        <p:nvSpPr>
          <p:cNvPr id="30" name="rc"/>
          <p:cNvSpPr/>
          <p:nvPr/>
        </p:nvSpPr>
        <p:spPr>
          <a:xfrm>
            <a:off x="8046720" y="1600200"/>
            <a:ext cx="3566160" cy="1371600"/>
          </a:xfrm>
          <a:prstGeom prst="roundRect">
            <a:avLst/>
          </a:prstGeom>
          <a:solidFill>
            <a:srgbClr val="1B2233"/>
          </a:solidFill>
          <a:ln w="12700">
            <a:solidFill>
              <a:srgbClr val="32405C"/>
            </a:solidFill>
          </a:ln>
        </p:spPr>
        <p:txBody>
          <a:bodyPr/>
          <a:lstStyle/>
          <a:p/>
        </p:txBody>
      </p:sp>
      <p:sp>
        <p:nvSpPr>
          <p:cNvPr id="31" name="tx"/>
          <p:cNvSpPr txBox="1"/>
          <p:nvPr/>
        </p:nvSpPr>
        <p:spPr>
          <a:xfrm>
            <a:off x="8046720" y="1600200"/>
            <a:ext cx="3566160" cy="137160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normAutofit/>
          </a:bodyPr>
          <a:lstStyle/>
          <a:p>
            <a:pPr algn="ctr">
              <a:buNone/>
            </a:pPr>
            <a:r>
              <a:rPr lang="zh-CN" sz="1600" b="1" i="0">
                <a:solidFill>
                  <a:srgbClr val="4EA1FF"/>
                </a:solidFill>
                <a:latin typeface="微软雅黑"/>
                <a:ea typeface="微软雅黑"/>
              </a:rPr>
              <a:t>CDN + 版本服务</a:t>
            </a:r>
          </a:p>
          <a:p>
            <a:pPr algn="ctr">
              <a:buNone/>
              <a:spcBef>
                <a:spcPts val="300"/>
              </a:spcBef>
            </a:pPr>
            <a:r>
              <a:rPr lang="zh-CN" sz="1000" b="0" i="0">
                <a:solidFill>
                  <a:srgbClr val="9AA7BD"/>
                </a:solidFill>
                <a:latin typeface="微软雅黑"/>
                <a:ea typeface="微软雅黑"/>
              </a:rPr>
              <a:t>资源分发 + 版本/CDN 下发</a:t>
            </a:r>
          </a:p>
        </p:txBody>
      </p:sp>
      <p:sp>
        <p:nvSpPr>
          <p:cNvPr id="32" name="tx"/>
          <p:cNvSpPr txBox="1"/>
          <p:nvPr/>
        </p:nvSpPr>
        <p:spPr>
          <a:xfrm>
            <a:off x="548640" y="3246120"/>
            <a:ext cx="11064240" cy="36576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rmAutofit/>
          </a:bodyPr>
          <a:lstStyle/>
          <a:p>
            <a:pPr algn="l">
              <a:buNone/>
            </a:pPr>
            <a:r>
              <a:rPr lang="zh-CN" sz="1400" b="1" i="0">
                <a:solidFill>
                  <a:srgbClr val="FFB454"/>
                </a:solidFill>
                <a:latin typeface="微软雅黑"/>
                <a:ea typeface="微软雅黑"/>
              </a:rPr>
              <a:t>各司其职：</a:t>
            </a:r>
          </a:p>
        </p:txBody>
      </p:sp>
      <p:sp>
        <p:nvSpPr>
          <p:cNvPr id="33" name="tx"/>
          <p:cNvSpPr txBox="1"/>
          <p:nvPr/>
        </p:nvSpPr>
        <p:spPr>
          <a:xfrm>
            <a:off x="640080" y="3657600"/>
            <a:ext cx="10972800" cy="292608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rmAutofit/>
          </a:bodyPr>
          <a:lstStyle/>
          <a:p>
            <a:pPr algn="l" marL="228600" indent="-228600">
              <a:buFont typeface="Arial"/>
              <a:buChar char="•"/>
            </a:pPr>
            <a:r>
              <a:rPr lang="zh-CN" sz="1350" b="0" i="0">
                <a:solidFill>
                  <a:srgbClr val="E6ECF5"/>
                </a:solidFill>
                <a:latin typeface="微软雅黑"/>
                <a:ea typeface="微软雅黑"/>
              </a:rPr>
              <a:t>HybridCLR —— 把 C# 代码变成可热更的 DLL；运行时补 AOT 元数据 + Assembly.Load 让热更代码在真机跑起来</a:t>
            </a:r>
          </a:p>
          <a:p>
            <a:pPr algn="l" marL="228600" indent="-228600">
              <a:buFont typeface="Arial"/>
              <a:buChar char="•"/>
              <a:spcBef>
                <a:spcPts val="700"/>
              </a:spcBef>
            </a:pPr>
            <a:r>
              <a:rPr lang="zh-CN" sz="1350" b="0" i="0">
                <a:solidFill>
                  <a:srgbClr val="E6ECF5"/>
                </a:solidFill>
                <a:latin typeface="微软雅黑"/>
                <a:ea typeface="微软雅黑"/>
              </a:rPr>
              <a:t>Addressables —— DLL 和普通资源统一为 bundle；用 Catalog 的 hash 做版本比对，只下变化的部分，自带缓存/断点</a:t>
            </a:r>
          </a:p>
          <a:p>
            <a:pPr algn="l" marL="228600" indent="-228600">
              <a:buFont typeface="Arial"/>
              <a:buChar char="•"/>
              <a:spcBef>
                <a:spcPts val="700"/>
              </a:spcBef>
            </a:pPr>
            <a:r>
              <a:rPr lang="zh-CN" sz="1350" b="0" i="0">
                <a:solidFill>
                  <a:srgbClr val="E6ECF5"/>
                </a:solidFill>
                <a:latin typeface="微软雅黑"/>
                <a:ea typeface="微软雅黑"/>
              </a:rPr>
              <a:t>CDN + 版本服务 —— 存 bundle；启动时版本接口下发当前 App 版本 / 热更版本 / CDN 列表</a:t>
            </a:r>
          </a:p>
          <a:p>
            <a:pPr algn="l" marL="228600" indent="-228600">
              <a:buFont typeface="Arial"/>
              <a:buChar char="•"/>
              <a:spcBef>
                <a:spcPts val="700"/>
              </a:spcBef>
            </a:pPr>
            <a:r>
              <a:rPr lang="zh-CN" sz="1350" b="0" i="0">
                <a:solidFill>
                  <a:srgbClr val="53D08A"/>
                </a:solidFill>
                <a:latin typeface="微软雅黑"/>
                <a:ea typeface="微软雅黑"/>
              </a:rPr>
              <a:t>关键解耦：包里 CDN 地址是占位符 http://CDN_PLACEHOLDER，真实域名运行时注入 → 一个包切任意 CDN/环境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c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rc"/>
          <p:cNvSpPr/>
          <p:nvPr/>
        </p:nvSpPr>
        <p:spPr>
          <a:xfrm>
            <a:off x="0" y="502920"/>
            <a:ext cx="128016" cy="868680"/>
          </a:xfrm>
          <a:prstGeom prst="rect">
            <a:avLst/>
          </a:prstGeom>
          <a:solidFill>
            <a:srgbClr val="4EA1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tx"/>
          <p:cNvSpPr txBox="1"/>
          <p:nvPr/>
        </p:nvSpPr>
        <p:spPr>
          <a:xfrm>
            <a:off x="384048" y="457200"/>
            <a:ext cx="10058400" cy="50292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rmAutofit/>
          </a:bodyPr>
          <a:lstStyle/>
          <a:p>
            <a:pPr algn="l">
              <a:buNone/>
            </a:pPr>
            <a:r>
              <a:rPr lang="zh-CN" sz="2600" b="1" i="0">
                <a:solidFill>
                  <a:srgbClr val="FFFFFF"/>
                </a:solidFill>
                <a:latin typeface="微软雅黑"/>
                <a:ea typeface="微软雅黑"/>
              </a:rPr>
              <a:t>下发的两类 DLL（务必分清）</a:t>
            </a:r>
          </a:p>
        </p:txBody>
      </p:sp>
      <p:sp>
        <p:nvSpPr>
          <p:cNvPr id="37" name="tx"/>
          <p:cNvSpPr txBox="1"/>
          <p:nvPr/>
        </p:nvSpPr>
        <p:spPr>
          <a:xfrm>
            <a:off x="402336" y="987552"/>
            <a:ext cx="10515600" cy="36576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rmAutofit/>
          </a:bodyPr>
          <a:lstStyle/>
          <a:p>
            <a:pPr algn="l">
              <a:buNone/>
            </a:pPr>
            <a:r>
              <a:rPr lang="zh-CN" sz="1200" b="0" i="0">
                <a:solidFill>
                  <a:srgbClr val="4EA1FF"/>
                </a:solidFill>
                <a:latin typeface="微软雅黑"/>
                <a:ea typeface="微软雅黑"/>
              </a:rPr>
              <a:t>KEY CONCEPT</a:t>
            </a:r>
          </a:p>
        </p:txBody>
      </p:sp>
      <p:sp>
        <p:nvSpPr>
          <p:cNvPr id="38" name="tx"/>
          <p:cNvSpPr txBox="1"/>
          <p:nvPr/>
        </p:nvSpPr>
        <p:spPr>
          <a:xfrm>
            <a:off x="11155680" y="457200"/>
            <a:ext cx="914400" cy="36576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rmAutofit/>
          </a:bodyPr>
          <a:lstStyle/>
          <a:p>
            <a:pPr algn="r">
              <a:buNone/>
            </a:pPr>
            <a:r>
              <a:rPr lang="zh-CN" sz="1400" b="1" i="0">
                <a:solidFill>
                  <a:srgbClr val="9AA7BD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39" name="rc"/>
          <p:cNvSpPr/>
          <p:nvPr/>
        </p:nvSpPr>
        <p:spPr>
          <a:xfrm>
            <a:off x="548640" y="1645920"/>
            <a:ext cx="5440680" cy="4206240"/>
          </a:xfrm>
          <a:prstGeom prst="roundRect">
            <a:avLst/>
          </a:prstGeom>
          <a:solidFill>
            <a:srgbClr val="1B2233"/>
          </a:solidFill>
          <a:ln w="12700">
            <a:solidFill>
              <a:srgbClr val="4EA1FF"/>
            </a:solidFill>
          </a:ln>
        </p:spPr>
        <p:txBody>
          <a:bodyPr/>
          <a:lstStyle/>
          <a:p/>
        </p:txBody>
      </p:sp>
      <p:sp>
        <p:nvSpPr>
          <p:cNvPr id="40" name="tx"/>
          <p:cNvSpPr txBox="1"/>
          <p:nvPr/>
        </p:nvSpPr>
        <p:spPr>
          <a:xfrm>
            <a:off x="548640" y="1645920"/>
            <a:ext cx="5440680" cy="420624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normAutofit/>
          </a:bodyPr>
          <a:lstStyle/>
          <a:p>
            <a:pPr algn="ctr">
              <a:buNone/>
            </a:pPr>
            <a:r>
              <a:rPr lang="zh-CN" sz="100" b="1" i="0">
                <a:solidFill>
                  <a:srgbClr val="E6ECF5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41" name="tx"/>
          <p:cNvSpPr txBox="1"/>
          <p:nvPr/>
        </p:nvSpPr>
        <p:spPr>
          <a:xfrm>
            <a:off x="777240" y="1828800"/>
            <a:ext cx="5029200" cy="384048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rmAutofit/>
          </a:bodyPr>
          <a:lstStyle/>
          <a:p>
            <a:pPr algn="l">
              <a:buNone/>
            </a:pPr>
            <a:r>
              <a:rPr lang="zh-CN" sz="1700" b="1" i="0">
                <a:solidFill>
                  <a:srgbClr val="4EA1FF"/>
                </a:solidFill>
                <a:latin typeface="微软雅黑"/>
                <a:ea typeface="微软雅黑"/>
              </a:rPr>
              <a:t>① 热更程序集</a:t>
            </a:r>
          </a:p>
          <a:p>
            <a:pPr algn="l">
              <a:buNone/>
              <a:spcBef>
                <a:spcPts val="300"/>
              </a:spcBef>
            </a:pPr>
            <a:r>
              <a:rPr lang="zh-CN" sz="1500" b="1" i="0">
                <a:solidFill>
                  <a:srgbClr val="FFFFFF"/>
                </a:solidFill>
                <a:latin typeface="微软雅黑"/>
                <a:ea typeface="微软雅黑"/>
              </a:rPr>
              <a:t>Game.dll</a:t>
            </a:r>
          </a:p>
          <a:p>
            <a:pPr algn="l" marL="228600" indent="-228600">
              <a:buFont typeface="Arial"/>
              <a:buChar char="•"/>
              <a:spcBef>
                <a:spcPts val="500"/>
              </a:spcBef>
            </a:pPr>
            <a:r>
              <a:rPr lang="zh-CN" sz="1250" b="0" i="0">
                <a:solidFill>
                  <a:srgbClr val="E6ECF5"/>
                </a:solidFill>
                <a:latin typeface="微软雅黑"/>
                <a:ea typeface="微软雅黑"/>
              </a:rPr>
              <a:t>业务逻辑代码，来源 Assets/Game/Game.asmdef</a:t>
            </a:r>
          </a:p>
          <a:p>
            <a:pPr algn="l" marL="228600" indent="-228600">
              <a:buFont typeface="Arial"/>
              <a:buChar char="•"/>
              <a:spcBef>
                <a:spcPts val="400"/>
              </a:spcBef>
            </a:pPr>
            <a:r>
              <a:rPr lang="zh-CN" sz="1250" b="0" i="0">
                <a:solidFill>
                  <a:srgbClr val="E6ECF5"/>
                </a:solidFill>
                <a:latin typeface="微软雅黑"/>
                <a:ea typeface="微软雅黑"/>
              </a:rPr>
              <a:t>运行时 Assembly.Load(bytes) 加载</a:t>
            </a:r>
          </a:p>
          <a:p>
            <a:pPr algn="l" marL="228600" indent="-228600">
              <a:buFont typeface="Arial"/>
              <a:buChar char="•"/>
              <a:spcBef>
                <a:spcPts val="400"/>
              </a:spcBef>
            </a:pPr>
            <a:r>
              <a:rPr lang="zh-CN" sz="1250" b="0" i="0">
                <a:solidFill>
                  <a:srgbClr val="E6ECF5"/>
                </a:solidFill>
                <a:latin typeface="微软雅黑"/>
                <a:ea typeface="微软雅黑"/>
              </a:rPr>
              <a:t>反射调用 MainScript.Start 进入热更</a:t>
            </a:r>
          </a:p>
        </p:txBody>
      </p:sp>
      <p:sp>
        <p:nvSpPr>
          <p:cNvPr id="42" name="rc"/>
          <p:cNvSpPr/>
          <p:nvPr/>
        </p:nvSpPr>
        <p:spPr>
          <a:xfrm>
            <a:off x="6172200" y="1645920"/>
            <a:ext cx="5440680" cy="4206240"/>
          </a:xfrm>
          <a:prstGeom prst="roundRect">
            <a:avLst/>
          </a:prstGeom>
          <a:solidFill>
            <a:srgbClr val="1B2233"/>
          </a:solidFill>
          <a:ln w="12700">
            <a:solidFill>
              <a:srgbClr val="FFB454"/>
            </a:solidFill>
          </a:ln>
        </p:spPr>
        <p:txBody>
          <a:bodyPr/>
          <a:lstStyle/>
          <a:p/>
        </p:txBody>
      </p:sp>
      <p:sp>
        <p:nvSpPr>
          <p:cNvPr id="43" name="tx"/>
          <p:cNvSpPr txBox="1"/>
          <p:nvPr/>
        </p:nvSpPr>
        <p:spPr>
          <a:xfrm>
            <a:off x="6172200" y="1645920"/>
            <a:ext cx="5440680" cy="420624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normAutofit/>
          </a:bodyPr>
          <a:lstStyle/>
          <a:p>
            <a:pPr algn="ctr">
              <a:buNone/>
            </a:pPr>
            <a:r>
              <a:rPr lang="zh-CN" sz="100" b="1" i="0">
                <a:solidFill>
                  <a:srgbClr val="E6ECF5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44" name="tx"/>
          <p:cNvSpPr txBox="1"/>
          <p:nvPr/>
        </p:nvSpPr>
        <p:spPr>
          <a:xfrm>
            <a:off x="6400800" y="1828800"/>
            <a:ext cx="5029200" cy="384048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rmAutofit/>
          </a:bodyPr>
          <a:lstStyle/>
          <a:p>
            <a:pPr algn="l">
              <a:buNone/>
            </a:pPr>
            <a:r>
              <a:rPr lang="zh-CN" sz="1700" b="1" i="0">
                <a:solidFill>
                  <a:srgbClr val="FFB454"/>
                </a:solidFill>
                <a:latin typeface="微软雅黑"/>
                <a:ea typeface="微软雅黑"/>
              </a:rPr>
              <a:t>② AOT 补充元数据</a:t>
            </a:r>
          </a:p>
          <a:p>
            <a:pPr algn="l">
              <a:buNone/>
              <a:spcBef>
                <a:spcPts val="300"/>
              </a:spcBef>
            </a:pPr>
            <a:r>
              <a:rPr lang="zh-CN" sz="1200" b="1" i="0">
                <a:solidFill>
                  <a:srgbClr val="FFFFFF"/>
                </a:solidFill>
                <a:latin typeface="微软雅黑"/>
                <a:ea typeface="微软雅黑"/>
              </a:rPr>
              <a:t>mscorlib.dll / System.dll / UnityEngine.*.dll …</a:t>
            </a:r>
          </a:p>
          <a:p>
            <a:pPr algn="l" marL="228600" indent="-228600">
              <a:buFont typeface="Arial"/>
              <a:buChar char="•"/>
              <a:spcBef>
                <a:spcPts val="500"/>
              </a:spcBef>
            </a:pPr>
            <a:r>
              <a:rPr lang="zh-CN" sz="1250" b="0" i="0">
                <a:solidFill>
                  <a:srgbClr val="E6ECF5"/>
                </a:solidFill>
                <a:latin typeface="微软雅黑"/>
                <a:ea typeface="微软雅黑"/>
              </a:rPr>
              <a:t>解决泛型在 AOT 下被 IL2CPP 裁剪的问题</a:t>
            </a:r>
          </a:p>
          <a:p>
            <a:pPr algn="l" marL="228600" indent="-228600">
              <a:buFont typeface="Arial"/>
              <a:buChar char="•"/>
              <a:spcBef>
                <a:spcPts val="400"/>
              </a:spcBef>
            </a:pPr>
            <a:r>
              <a:rPr lang="zh-CN" sz="1250" b="0" i="0">
                <a:solidFill>
                  <a:srgbClr val="E6ECF5"/>
                </a:solidFill>
                <a:latin typeface="微软雅黑"/>
                <a:ea typeface="微软雅黑"/>
              </a:rPr>
              <a:t>RuntimeApi.LoadMetadataForAOTAssembly 补入</a:t>
            </a:r>
          </a:p>
          <a:p>
            <a:pPr algn="l" marL="228600" indent="-228600">
              <a:buFont typeface="Arial"/>
              <a:buChar char="•"/>
              <a:spcBef>
                <a:spcPts val="400"/>
              </a:spcBef>
            </a:pPr>
            <a:r>
              <a:rPr lang="zh-CN" sz="1250" b="0" i="0">
                <a:solidFill>
                  <a:srgbClr val="E6ECF5"/>
                </a:solidFill>
                <a:latin typeface="微软雅黑"/>
                <a:ea typeface="微软雅黑"/>
              </a:rPr>
              <a:t>补哪些由名单 PatchedAOTAssemblyList 决定</a:t>
            </a:r>
          </a:p>
        </p:txBody>
      </p:sp>
      <p:sp>
        <p:nvSpPr>
          <p:cNvPr id="45" name="rc"/>
          <p:cNvSpPr/>
          <p:nvPr/>
        </p:nvSpPr>
        <p:spPr>
          <a:xfrm>
            <a:off x="548640" y="6035040"/>
            <a:ext cx="11064240" cy="640080"/>
          </a:xfrm>
          <a:prstGeom prst="roundRect">
            <a:avLst/>
          </a:prstGeom>
          <a:solidFill>
            <a:srgbClr val="2A1E14"/>
          </a:solidFill>
          <a:ln w="12700">
            <a:solidFill>
              <a:srgbClr val="FFB454"/>
            </a:solidFill>
          </a:ln>
        </p:spPr>
        <p:txBody>
          <a:bodyPr/>
          <a:lstStyle/>
          <a:p/>
        </p:txBody>
      </p:sp>
      <p:sp>
        <p:nvSpPr>
          <p:cNvPr id="46" name="tx"/>
          <p:cNvSpPr txBox="1"/>
          <p:nvPr/>
        </p:nvSpPr>
        <p:spPr>
          <a:xfrm>
            <a:off x="548640" y="6035040"/>
            <a:ext cx="11064240" cy="64008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normAutofit/>
          </a:bodyPr>
          <a:lstStyle/>
          <a:p>
            <a:pPr algn="ctr">
              <a:buNone/>
            </a:pPr>
            <a:r>
              <a:rPr lang="zh-CN" sz="1350" b="1" i="0">
                <a:solidFill>
                  <a:srgbClr val="FFB454"/>
                </a:solidFill>
                <a:latin typeface="微软雅黑"/>
                <a:ea typeface="微软雅黑"/>
              </a:rPr>
              <a:t>⚠ 顺序不能反：先补 AOT 元数据 → 再 Assembly.Load 热更 DLL（反了泛型方法在真机会崩）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c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20"/>
          </a:solidFill>
          <a:ln>
            <a:noFill/>
          </a:ln>
        </p:spPr>
        <p:txBody>
          <a:bodyPr/>
          <a:lstStyle/>
          <a:p/>
        </p:txBody>
      </p:sp>
      <p:sp>
        <p:nvSpPr>
          <p:cNvPr id="48" name="rc"/>
          <p:cNvSpPr/>
          <p:nvPr/>
        </p:nvSpPr>
        <p:spPr>
          <a:xfrm>
            <a:off x="0" y="502920"/>
            <a:ext cx="128016" cy="868680"/>
          </a:xfrm>
          <a:prstGeom prst="rect">
            <a:avLst/>
          </a:prstGeom>
          <a:solidFill>
            <a:srgbClr val="4EA1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tx"/>
          <p:cNvSpPr txBox="1"/>
          <p:nvPr/>
        </p:nvSpPr>
        <p:spPr>
          <a:xfrm>
            <a:off x="384048" y="457200"/>
            <a:ext cx="10058400" cy="50292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rmAutofit/>
          </a:bodyPr>
          <a:lstStyle/>
          <a:p>
            <a:pPr algn="l">
              <a:buNone/>
            </a:pPr>
            <a:r>
              <a:rPr lang="zh-CN" sz="2600" b="1" i="0">
                <a:solidFill>
                  <a:srgbClr val="FFFFFF"/>
                </a:solidFill>
                <a:latin typeface="微软雅黑"/>
                <a:ea typeface="微软雅黑"/>
              </a:rPr>
              <a:t>打包侧：DLL 如何变成 CDN 资源</a:t>
            </a:r>
          </a:p>
        </p:txBody>
      </p:sp>
      <p:sp>
        <p:nvSpPr>
          <p:cNvPr id="50" name="tx"/>
          <p:cNvSpPr txBox="1"/>
          <p:nvPr/>
        </p:nvSpPr>
        <p:spPr>
          <a:xfrm>
            <a:off x="402336" y="987552"/>
            <a:ext cx="10515600" cy="36576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rmAutofit/>
          </a:bodyPr>
          <a:lstStyle/>
          <a:p>
            <a:pPr algn="l">
              <a:buNone/>
            </a:pPr>
            <a:r>
              <a:rPr lang="zh-CN" sz="1200" b="0" i="0">
                <a:solidFill>
                  <a:srgbClr val="4EA1FF"/>
                </a:solidFill>
                <a:latin typeface="微软雅黑"/>
                <a:ea typeface="微软雅黑"/>
              </a:rPr>
              <a:t>BUILD PIPELINE</a:t>
            </a:r>
          </a:p>
        </p:txBody>
      </p:sp>
      <p:sp>
        <p:nvSpPr>
          <p:cNvPr id="51" name="tx"/>
          <p:cNvSpPr txBox="1"/>
          <p:nvPr/>
        </p:nvSpPr>
        <p:spPr>
          <a:xfrm>
            <a:off x="11155680" y="457200"/>
            <a:ext cx="914400" cy="36576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rmAutofit/>
          </a:bodyPr>
          <a:lstStyle/>
          <a:p>
            <a:pPr algn="r">
              <a:buNone/>
            </a:pPr>
            <a:r>
              <a:rPr lang="zh-CN" sz="1400" b="1" i="0">
                <a:solidFill>
                  <a:srgbClr val="9AA7BD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52" name="rc"/>
          <p:cNvSpPr/>
          <p:nvPr/>
        </p:nvSpPr>
        <p:spPr>
          <a:xfrm>
            <a:off x="548640" y="1737360"/>
            <a:ext cx="2606040" cy="1371600"/>
          </a:xfrm>
          <a:prstGeom prst="roundRect">
            <a:avLst/>
          </a:prstGeom>
          <a:solidFill>
            <a:srgbClr val="1B2233"/>
          </a:solidFill>
          <a:ln w="12700">
            <a:solidFill>
              <a:srgbClr val="32405C"/>
            </a:solidFill>
          </a:ln>
        </p:spPr>
        <p:txBody>
          <a:bodyPr/>
          <a:lstStyle/>
          <a:p/>
        </p:txBody>
      </p:sp>
      <p:sp>
        <p:nvSpPr>
          <p:cNvPr id="53" name="tx"/>
          <p:cNvSpPr txBox="1"/>
          <p:nvPr/>
        </p:nvSpPr>
        <p:spPr>
          <a:xfrm>
            <a:off x="548640" y="1737360"/>
            <a:ext cx="2606040" cy="137160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normAutofit/>
          </a:bodyPr>
          <a:lstStyle/>
          <a:p>
            <a:pPr algn="ctr">
              <a:buNone/>
            </a:pPr>
            <a:r>
              <a:rPr lang="zh-CN" sz="1500" b="1" i="0">
                <a:solidFill>
                  <a:srgbClr val="4EA1FF"/>
                </a:solidFill>
                <a:latin typeface="微软雅黑"/>
                <a:ea typeface="微软雅黑"/>
              </a:rPr>
              <a:t>编译</a:t>
            </a:r>
          </a:p>
          <a:p>
            <a:pPr algn="ctr">
              <a:buNone/>
              <a:spcBef>
                <a:spcPts val="300"/>
              </a:spcBef>
            </a:pPr>
            <a:r>
              <a:rPr lang="zh-CN" sz="1000" b="0" i="0">
                <a:solidFill>
                  <a:srgbClr val="9AA7BD"/>
                </a:solidFill>
                <a:latin typeface="微软雅黑"/>
                <a:ea typeface="微软雅黑"/>
              </a:rPr>
              <a:t>HybridCLR CompileDll
→ Game.dll</a:t>
            </a:r>
          </a:p>
        </p:txBody>
      </p:sp>
      <p:sp>
        <p:nvSpPr>
          <p:cNvPr id="54" name="rc"/>
          <p:cNvSpPr/>
          <p:nvPr/>
        </p:nvSpPr>
        <p:spPr>
          <a:xfrm>
            <a:off x="3429000" y="1737360"/>
            <a:ext cx="2606040" cy="1371600"/>
          </a:xfrm>
          <a:prstGeom prst="roundRect">
            <a:avLst/>
          </a:prstGeom>
          <a:solidFill>
            <a:srgbClr val="1B2233"/>
          </a:solidFill>
          <a:ln w="12700">
            <a:solidFill>
              <a:srgbClr val="32405C"/>
            </a:solidFill>
          </a:ln>
        </p:spPr>
        <p:txBody>
          <a:bodyPr/>
          <a:lstStyle/>
          <a:p/>
        </p:txBody>
      </p:sp>
      <p:sp>
        <p:nvSpPr>
          <p:cNvPr id="55" name="tx"/>
          <p:cNvSpPr txBox="1"/>
          <p:nvPr/>
        </p:nvSpPr>
        <p:spPr>
          <a:xfrm>
            <a:off x="3429000" y="1737360"/>
            <a:ext cx="2606040" cy="137160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normAutofit/>
          </a:bodyPr>
          <a:lstStyle/>
          <a:p>
            <a:pPr algn="ctr">
              <a:buNone/>
            </a:pPr>
            <a:r>
              <a:rPr lang="zh-CN" sz="1500" b="1" i="0">
                <a:solidFill>
                  <a:srgbClr val="4EA1FF"/>
                </a:solidFill>
                <a:latin typeface="微软雅黑"/>
                <a:ea typeface="微软雅黑"/>
              </a:rPr>
              <a:t>裁剪 AOT</a:t>
            </a:r>
          </a:p>
          <a:p>
            <a:pPr algn="ctr">
              <a:buNone/>
              <a:spcBef>
                <a:spcPts val="300"/>
              </a:spcBef>
            </a:pPr>
            <a:r>
              <a:rPr lang="zh-CN" sz="1000" b="0" i="0">
                <a:solidFill>
                  <a:srgbClr val="9AA7BD"/>
                </a:solidFill>
                <a:latin typeface="微软雅黑"/>
                <a:ea typeface="微软雅黑"/>
              </a:rPr>
              <a:t>StripAOTDll +
生成 AOT 名单</a:t>
            </a:r>
          </a:p>
        </p:txBody>
      </p:sp>
      <p:sp>
        <p:nvSpPr>
          <p:cNvPr id="56" name="rc"/>
          <p:cNvSpPr/>
          <p:nvPr/>
        </p:nvSpPr>
        <p:spPr>
          <a:xfrm>
            <a:off x="6309360" y="1737360"/>
            <a:ext cx="2606040" cy="1371600"/>
          </a:xfrm>
          <a:prstGeom prst="roundRect">
            <a:avLst/>
          </a:prstGeom>
          <a:solidFill>
            <a:srgbClr val="1B2233"/>
          </a:solidFill>
          <a:ln w="12700">
            <a:solidFill>
              <a:srgbClr val="32405C"/>
            </a:solidFill>
          </a:ln>
        </p:spPr>
        <p:txBody>
          <a:bodyPr/>
          <a:lstStyle/>
          <a:p/>
        </p:txBody>
      </p:sp>
      <p:sp>
        <p:nvSpPr>
          <p:cNvPr id="57" name="tx"/>
          <p:cNvSpPr txBox="1"/>
          <p:nvPr/>
        </p:nvSpPr>
        <p:spPr>
          <a:xfrm>
            <a:off x="6309360" y="1737360"/>
            <a:ext cx="2606040" cy="137160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normAutofit/>
          </a:bodyPr>
          <a:lstStyle/>
          <a:p>
            <a:pPr algn="ctr">
              <a:buNone/>
            </a:pPr>
            <a:r>
              <a:rPr lang="zh-CN" sz="1500" b="1" i="0">
                <a:solidFill>
                  <a:srgbClr val="4EA1FF"/>
                </a:solidFill>
                <a:latin typeface="微软雅黑"/>
                <a:ea typeface="微软雅黑"/>
              </a:rPr>
              <a:t>拷成 .bytes</a:t>
            </a:r>
          </a:p>
          <a:p>
            <a:pPr algn="ctr">
              <a:buNone/>
              <a:spcBef>
                <a:spcPts val="300"/>
              </a:spcBef>
            </a:pPr>
            <a:r>
              <a:rPr lang="zh-CN" sz="1000" b="0" i="0">
                <a:solidFill>
                  <a:srgbClr val="9AA7BD"/>
                </a:solidFill>
                <a:latin typeface="微软雅黑"/>
                <a:ea typeface="微软雅黑"/>
              </a:rPr>
              <a:t>*.dll → *.dll.bytes
→ Assets/Dlls</a:t>
            </a:r>
          </a:p>
        </p:txBody>
      </p:sp>
      <p:sp>
        <p:nvSpPr>
          <p:cNvPr id="58" name="rc"/>
          <p:cNvSpPr/>
          <p:nvPr/>
        </p:nvSpPr>
        <p:spPr>
          <a:xfrm>
            <a:off x="9189720" y="1737360"/>
            <a:ext cx="2423160" cy="1371600"/>
          </a:xfrm>
          <a:prstGeom prst="roundRect">
            <a:avLst/>
          </a:prstGeom>
          <a:solidFill>
            <a:srgbClr val="1B2233"/>
          </a:solidFill>
          <a:ln w="12700">
            <a:solidFill>
              <a:srgbClr val="32405C"/>
            </a:solidFill>
          </a:ln>
        </p:spPr>
        <p:txBody>
          <a:bodyPr/>
          <a:lstStyle/>
          <a:p/>
        </p:txBody>
      </p:sp>
      <p:sp>
        <p:nvSpPr>
          <p:cNvPr id="59" name="tx"/>
          <p:cNvSpPr txBox="1"/>
          <p:nvPr/>
        </p:nvSpPr>
        <p:spPr>
          <a:xfrm>
            <a:off x="9189720" y="1737360"/>
            <a:ext cx="2423160" cy="137160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normAutofit/>
          </a:bodyPr>
          <a:lstStyle/>
          <a:p>
            <a:pPr algn="ctr">
              <a:buNone/>
            </a:pPr>
            <a:r>
              <a:rPr lang="zh-CN" sz="1500" b="1" i="0">
                <a:solidFill>
                  <a:srgbClr val="4EA1FF"/>
                </a:solidFill>
                <a:latin typeface="微软雅黑"/>
                <a:ea typeface="微软雅黑"/>
              </a:rPr>
              <a:t>入 Group</a:t>
            </a:r>
          </a:p>
          <a:p>
            <a:pPr algn="ctr">
              <a:buNone/>
              <a:spcBef>
                <a:spcPts val="300"/>
              </a:spcBef>
            </a:pPr>
            <a:r>
              <a:rPr lang="zh-CN" sz="1000" b="0" i="0">
                <a:solidFill>
                  <a:srgbClr val="9AA7BD"/>
                </a:solidFill>
                <a:latin typeface="微软雅黑"/>
                <a:ea typeface="微软雅黑"/>
              </a:rPr>
              <a:t>打 "dll" label
→ 打 bundle → CDN</a:t>
            </a:r>
          </a:p>
        </p:txBody>
      </p:sp>
      <p:sp>
        <p:nvSpPr>
          <p:cNvPr id="60" name="ar"/>
          <p:cNvSpPr/>
          <p:nvPr/>
        </p:nvSpPr>
        <p:spPr>
          <a:xfrm>
            <a:off x="3200400" y="2194560"/>
            <a:ext cx="256032" cy="457200"/>
          </a:xfrm>
          <a:prstGeom prst="rightArrow">
            <a:avLst/>
          </a:prstGeom>
          <a:solidFill>
            <a:srgbClr val="9AA7BD"/>
          </a:solidFill>
          <a:ln>
            <a:noFill/>
          </a:ln>
        </p:spPr>
        <p:txBody>
          <a:bodyPr/>
          <a:lstStyle/>
          <a:p/>
        </p:txBody>
      </p:sp>
      <p:sp>
        <p:nvSpPr>
          <p:cNvPr id="61" name="ar"/>
          <p:cNvSpPr/>
          <p:nvPr/>
        </p:nvSpPr>
        <p:spPr>
          <a:xfrm>
            <a:off x="6035040" y="2194560"/>
            <a:ext cx="256032" cy="457200"/>
          </a:xfrm>
          <a:prstGeom prst="rightArrow">
            <a:avLst/>
          </a:prstGeom>
          <a:solidFill>
            <a:srgbClr val="9AA7BD"/>
          </a:solidFill>
          <a:ln>
            <a:noFill/>
          </a:ln>
        </p:spPr>
        <p:txBody>
          <a:bodyPr/>
          <a:lstStyle/>
          <a:p/>
        </p:txBody>
      </p:sp>
      <p:sp>
        <p:nvSpPr>
          <p:cNvPr id="62" name="ar"/>
          <p:cNvSpPr/>
          <p:nvPr/>
        </p:nvSpPr>
        <p:spPr>
          <a:xfrm>
            <a:off x="8915400" y="2194560"/>
            <a:ext cx="256032" cy="457200"/>
          </a:xfrm>
          <a:prstGeom prst="rightArrow">
            <a:avLst/>
          </a:prstGeom>
          <a:solidFill>
            <a:srgbClr val="9AA7BD"/>
          </a:solidFill>
          <a:ln>
            <a:noFill/>
          </a:ln>
        </p:spPr>
        <p:txBody>
          <a:bodyPr/>
          <a:lstStyle/>
          <a:p/>
        </p:txBody>
      </p:sp>
      <p:sp>
        <p:nvSpPr>
          <p:cNvPr id="63" name="tx"/>
          <p:cNvSpPr txBox="1"/>
          <p:nvPr/>
        </p:nvSpPr>
        <p:spPr>
          <a:xfrm>
            <a:off x="548640" y="3383280"/>
            <a:ext cx="11064240" cy="36576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rmAutofit/>
          </a:bodyPr>
          <a:lstStyle/>
          <a:p>
            <a:pPr algn="l">
              <a:buNone/>
            </a:pPr>
            <a:r>
              <a:rPr lang="zh-CN" sz="1400" b="1" i="0">
                <a:solidFill>
                  <a:srgbClr val="FFB454"/>
                </a:solidFill>
                <a:latin typeface="微软雅黑"/>
                <a:ea typeface="微软雅黑"/>
              </a:rPr>
              <a:t>两个关键设计：</a:t>
            </a:r>
          </a:p>
        </p:txBody>
      </p:sp>
      <p:sp>
        <p:nvSpPr>
          <p:cNvPr id="64" name="tx"/>
          <p:cNvSpPr txBox="1"/>
          <p:nvPr/>
        </p:nvSpPr>
        <p:spPr>
          <a:xfrm>
            <a:off x="640080" y="3794760"/>
            <a:ext cx="10972800" cy="146304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rmAutofit/>
          </a:bodyPr>
          <a:lstStyle/>
          <a:p>
            <a:pPr algn="l" marL="228600" indent="-228600">
              <a:buFont typeface="Arial"/>
              <a:buChar char="•"/>
            </a:pPr>
            <a:r>
              <a:rPr lang="zh-CN" sz="1300" b="0" i="0">
                <a:solidFill>
                  <a:srgbClr val="E6ECF5"/>
                </a:solidFill>
                <a:latin typeface="微软雅黑"/>
                <a:ea typeface="微软雅黑"/>
              </a:rPr>
              <a:t>为什么改 .bytes：Unity 不把 .dll 当资源；改后是标准 TextAsset，能进 bundle、能被 LoadAsset 读到字节</a:t>
            </a:r>
          </a:p>
          <a:p>
            <a:pPr algn="l" marL="228600" indent="-228600">
              <a:buFont typeface="Arial"/>
              <a:buChar char="•"/>
              <a:spcBef>
                <a:spcPts val="600"/>
              </a:spcBef>
            </a:pPr>
            <a:r>
              <a:rPr lang="zh-CN" sz="1300" b="0" i="0">
                <a:solidFill>
                  <a:srgbClr val="E6ECF5"/>
                </a:solidFill>
                <a:latin typeface="微软雅黑"/>
                <a:ea typeface="微软雅黑"/>
              </a:rPr>
              <a:t>所有 .bytes（含 AOT 名单）打同一个 "dll" label：运行时一次拉回，靠文件名区分名单 vs DLL</a:t>
            </a:r>
          </a:p>
        </p:txBody>
      </p:sp>
      <p:sp>
        <p:nvSpPr>
          <p:cNvPr id="65" name="rc"/>
          <p:cNvSpPr/>
          <p:nvPr/>
        </p:nvSpPr>
        <p:spPr>
          <a:xfrm>
            <a:off x="548640" y="5440680"/>
            <a:ext cx="11064240" cy="1188720"/>
          </a:xfrm>
          <a:prstGeom prst="roundRect">
            <a:avLst/>
          </a:prstGeom>
          <a:solidFill>
            <a:srgbClr val="1B2233"/>
          </a:solidFill>
          <a:ln w="12700">
            <a:solidFill>
              <a:srgbClr val="32405C"/>
            </a:solidFill>
          </a:ln>
        </p:spPr>
        <p:txBody>
          <a:bodyPr/>
          <a:lstStyle/>
          <a:p/>
        </p:txBody>
      </p:sp>
      <p:sp>
        <p:nvSpPr>
          <p:cNvPr id="66" name="tx"/>
          <p:cNvSpPr txBox="1"/>
          <p:nvPr/>
        </p:nvSpPr>
        <p:spPr>
          <a:xfrm>
            <a:off x="548640" y="5440680"/>
            <a:ext cx="11064240" cy="118872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normAutofit/>
          </a:bodyPr>
          <a:lstStyle/>
          <a:p>
            <a:pPr algn="ctr">
              <a:buNone/>
            </a:pPr>
            <a:r>
              <a:rPr lang="zh-CN" sz="1350" b="1" i="0">
                <a:solidFill>
                  <a:srgbClr val="53D08A"/>
                </a:solidFill>
                <a:latin typeface="微软雅黑"/>
                <a:ea typeface="微软雅黑"/>
              </a:rPr>
              <a:t>打 Patch 特有：AOT DLL 从底包归档拷（不重新裁剪）+ 兼容性前置校验</a:t>
            </a:r>
          </a:p>
          <a:p>
            <a:pPr algn="ctr">
              <a:buNone/>
              <a:spcBef>
                <a:spcPts val="300"/>
              </a:spcBef>
            </a:pPr>
            <a:r>
              <a:rPr lang="zh-CN" sz="1000" b="0" i="0">
                <a:solidFill>
                  <a:srgbClr val="9AA7BD"/>
                </a:solidFill>
                <a:latin typeface="微软雅黑"/>
                <a:ea typeface="微软雅黑"/>
              </a:rPr>
              <a:t>检查"热更代码是否引用了底包被裁掉的类型" → 命中则中止发布（光打 Patch 救不了，必须重出底包）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c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20"/>
          </a:solidFill>
          <a:ln>
            <a:noFill/>
          </a:ln>
        </p:spPr>
        <p:txBody>
          <a:bodyPr/>
          <a:lstStyle/>
          <a:p/>
        </p:txBody>
      </p:sp>
      <p:sp>
        <p:nvSpPr>
          <p:cNvPr id="68" name="rc"/>
          <p:cNvSpPr/>
          <p:nvPr/>
        </p:nvSpPr>
        <p:spPr>
          <a:xfrm>
            <a:off x="0" y="502920"/>
            <a:ext cx="128016" cy="868680"/>
          </a:xfrm>
          <a:prstGeom prst="rect">
            <a:avLst/>
          </a:prstGeom>
          <a:solidFill>
            <a:srgbClr val="4EA1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9" name="tx"/>
          <p:cNvSpPr txBox="1"/>
          <p:nvPr/>
        </p:nvSpPr>
        <p:spPr>
          <a:xfrm>
            <a:off x="384048" y="457200"/>
            <a:ext cx="10058400" cy="50292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rmAutofit/>
          </a:bodyPr>
          <a:lstStyle/>
          <a:p>
            <a:pPr algn="l">
              <a:buNone/>
            </a:pPr>
            <a:r>
              <a:rPr lang="zh-CN" sz="2600" b="1" i="0">
                <a:solidFill>
                  <a:srgbClr val="FFFFFF"/>
                </a:solidFill>
                <a:latin typeface="微软雅黑"/>
                <a:ea typeface="微软雅黑"/>
              </a:rPr>
              <a:t>运行时启动链路</a:t>
            </a:r>
          </a:p>
        </p:txBody>
      </p:sp>
      <p:sp>
        <p:nvSpPr>
          <p:cNvPr id="70" name="tx"/>
          <p:cNvSpPr txBox="1"/>
          <p:nvPr/>
        </p:nvSpPr>
        <p:spPr>
          <a:xfrm>
            <a:off x="402336" y="987552"/>
            <a:ext cx="10515600" cy="36576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rmAutofit/>
          </a:bodyPr>
          <a:lstStyle/>
          <a:p>
            <a:pPr algn="l">
              <a:buNone/>
            </a:pPr>
            <a:r>
              <a:rPr lang="zh-CN" sz="1200" b="0" i="0">
                <a:solidFill>
                  <a:srgbClr val="4EA1FF"/>
                </a:solidFill>
                <a:latin typeface="微软雅黑"/>
                <a:ea typeface="微软雅黑"/>
              </a:rPr>
              <a:t>RUNTIME FLOW</a:t>
            </a:r>
          </a:p>
        </p:txBody>
      </p:sp>
      <p:sp>
        <p:nvSpPr>
          <p:cNvPr id="71" name="tx"/>
          <p:cNvSpPr txBox="1"/>
          <p:nvPr/>
        </p:nvSpPr>
        <p:spPr>
          <a:xfrm>
            <a:off x="11155680" y="457200"/>
            <a:ext cx="914400" cy="36576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rmAutofit/>
          </a:bodyPr>
          <a:lstStyle/>
          <a:p>
            <a:pPr algn="r">
              <a:buNone/>
            </a:pPr>
            <a:r>
              <a:rPr lang="zh-CN" sz="1400" b="1" i="0">
                <a:solidFill>
                  <a:srgbClr val="9AA7BD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72" name="rc"/>
          <p:cNvSpPr/>
          <p:nvPr/>
        </p:nvSpPr>
        <p:spPr>
          <a:xfrm>
            <a:off x="548640" y="1691640"/>
            <a:ext cx="2697480" cy="1828800"/>
          </a:xfrm>
          <a:prstGeom prst="roundRect">
            <a:avLst/>
          </a:prstGeom>
          <a:solidFill>
            <a:srgbClr val="1B2233"/>
          </a:solidFill>
          <a:ln w="12700">
            <a:solidFill>
              <a:srgbClr val="32405C"/>
            </a:solidFill>
          </a:ln>
        </p:spPr>
        <p:txBody>
          <a:bodyPr/>
          <a:lstStyle/>
          <a:p/>
        </p:txBody>
      </p:sp>
      <p:sp>
        <p:nvSpPr>
          <p:cNvPr id="73" name="tx"/>
          <p:cNvSpPr txBox="1"/>
          <p:nvPr/>
        </p:nvSpPr>
        <p:spPr>
          <a:xfrm>
            <a:off x="548640" y="1691640"/>
            <a:ext cx="2697480" cy="182880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normAutofit/>
          </a:bodyPr>
          <a:lstStyle/>
          <a:p>
            <a:pPr algn="ctr">
              <a:buNone/>
            </a:pPr>
            <a:r>
              <a:rPr lang="zh-CN" sz="1450" b="1" i="0">
                <a:solidFill>
                  <a:srgbClr val="4EA1FF"/>
                </a:solidFill>
                <a:latin typeface="微软雅黑"/>
                <a:ea typeface="微软雅黑"/>
              </a:rPr>
              <a:t>1  请求版本</a:t>
            </a:r>
          </a:p>
          <a:p>
            <a:pPr algn="ctr">
              <a:buNone/>
              <a:spcBef>
                <a:spcPts val="300"/>
              </a:spcBef>
            </a:pPr>
            <a:r>
              <a:rPr lang="zh-CN" sz="1000" b="0" i="0">
                <a:solidFill>
                  <a:srgbClr val="9AA7BD"/>
                </a:solidFill>
                <a:latin typeface="微软雅黑"/>
                <a:ea typeface="微软雅黑"/>
              </a:rPr>
              <a:t>版本接口下发
App版本 / 热更版本 / CDN列表</a:t>
            </a:r>
          </a:p>
        </p:txBody>
      </p:sp>
      <p:sp>
        <p:nvSpPr>
          <p:cNvPr id="74" name="ar"/>
          <p:cNvSpPr/>
          <p:nvPr/>
        </p:nvSpPr>
        <p:spPr>
          <a:xfrm>
            <a:off x="3227832" y="2377440"/>
            <a:ext cx="146304" cy="457200"/>
          </a:xfrm>
          <a:prstGeom prst="rightArrow">
            <a:avLst/>
          </a:prstGeom>
          <a:solidFill>
            <a:srgbClr val="9AA7BD"/>
          </a:solidFill>
          <a:ln>
            <a:noFill/>
          </a:ln>
        </p:spPr>
        <p:txBody>
          <a:bodyPr/>
          <a:lstStyle/>
          <a:p/>
        </p:txBody>
      </p:sp>
      <p:sp>
        <p:nvSpPr>
          <p:cNvPr id="75" name="rc"/>
          <p:cNvSpPr/>
          <p:nvPr/>
        </p:nvSpPr>
        <p:spPr>
          <a:xfrm>
            <a:off x="3355848" y="1691640"/>
            <a:ext cx="2697480" cy="1828800"/>
          </a:xfrm>
          <a:prstGeom prst="roundRect">
            <a:avLst/>
          </a:prstGeom>
          <a:solidFill>
            <a:srgbClr val="1B2233"/>
          </a:solidFill>
          <a:ln w="12700">
            <a:solidFill>
              <a:srgbClr val="32405C"/>
            </a:solidFill>
          </a:ln>
        </p:spPr>
        <p:txBody>
          <a:bodyPr/>
          <a:lstStyle/>
          <a:p/>
        </p:txBody>
      </p:sp>
      <p:sp>
        <p:nvSpPr>
          <p:cNvPr id="76" name="tx"/>
          <p:cNvSpPr txBox="1"/>
          <p:nvPr/>
        </p:nvSpPr>
        <p:spPr>
          <a:xfrm>
            <a:off x="3355848" y="1691640"/>
            <a:ext cx="2697480" cy="182880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normAutofit/>
          </a:bodyPr>
          <a:lstStyle/>
          <a:p>
            <a:pPr algn="ctr">
              <a:buNone/>
            </a:pPr>
            <a:r>
              <a:rPr lang="zh-CN" sz="1450" b="1" i="0">
                <a:solidFill>
                  <a:srgbClr val="4EA1FF"/>
                </a:solidFill>
                <a:latin typeface="微软雅黑"/>
                <a:ea typeface="微软雅黑"/>
              </a:rPr>
              <a:t>2  更新 Catalog</a:t>
            </a:r>
          </a:p>
          <a:p>
            <a:pPr algn="ctr">
              <a:buNone/>
              <a:spcBef>
                <a:spcPts val="300"/>
              </a:spcBef>
            </a:pPr>
            <a:r>
              <a:rPr lang="zh-CN" sz="1000" b="0" i="0">
                <a:solidFill>
                  <a:srgbClr val="9AA7BD"/>
                </a:solidFill>
                <a:latin typeface="微软雅黑"/>
                <a:ea typeface="微软雅黑"/>
              </a:rPr>
              <a:t>拉 catalog_*.hash
hash 变则下新 Catalog</a:t>
            </a:r>
          </a:p>
        </p:txBody>
      </p:sp>
      <p:sp>
        <p:nvSpPr>
          <p:cNvPr id="77" name="ar"/>
          <p:cNvSpPr/>
          <p:nvPr/>
        </p:nvSpPr>
        <p:spPr>
          <a:xfrm>
            <a:off x="6035040" y="2377440"/>
            <a:ext cx="146304" cy="457200"/>
          </a:xfrm>
          <a:prstGeom prst="rightArrow">
            <a:avLst/>
          </a:prstGeom>
          <a:solidFill>
            <a:srgbClr val="9AA7BD"/>
          </a:solidFill>
          <a:ln>
            <a:noFill/>
          </a:ln>
        </p:spPr>
        <p:txBody>
          <a:bodyPr/>
          <a:lstStyle/>
          <a:p/>
        </p:txBody>
      </p:sp>
      <p:sp>
        <p:nvSpPr>
          <p:cNvPr id="78" name="rc"/>
          <p:cNvSpPr/>
          <p:nvPr/>
        </p:nvSpPr>
        <p:spPr>
          <a:xfrm>
            <a:off x="6163056" y="1691640"/>
            <a:ext cx="2697480" cy="1828800"/>
          </a:xfrm>
          <a:prstGeom prst="roundRect">
            <a:avLst/>
          </a:prstGeom>
          <a:solidFill>
            <a:srgbClr val="1B2233"/>
          </a:solidFill>
          <a:ln w="12700">
            <a:solidFill>
              <a:srgbClr val="32405C"/>
            </a:solidFill>
          </a:ln>
        </p:spPr>
        <p:txBody>
          <a:bodyPr/>
          <a:lstStyle/>
          <a:p/>
        </p:txBody>
      </p:sp>
      <p:sp>
        <p:nvSpPr>
          <p:cNvPr id="79" name="tx"/>
          <p:cNvSpPr txBox="1"/>
          <p:nvPr/>
        </p:nvSpPr>
        <p:spPr>
          <a:xfrm>
            <a:off x="6163056" y="1691640"/>
            <a:ext cx="2697480" cy="182880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normAutofit/>
          </a:bodyPr>
          <a:lstStyle/>
          <a:p>
            <a:pPr algn="ctr">
              <a:buNone/>
            </a:pPr>
            <a:r>
              <a:rPr lang="zh-CN" sz="1450" b="1" i="0">
                <a:solidFill>
                  <a:srgbClr val="4EA1FF"/>
                </a:solidFill>
                <a:latin typeface="微软雅黑"/>
                <a:ea typeface="微软雅黑"/>
              </a:rPr>
              <a:t>3  查下载大小</a:t>
            </a:r>
          </a:p>
          <a:p>
            <a:pPr algn="ctr">
              <a:buNone/>
              <a:spcBef>
                <a:spcPts val="300"/>
              </a:spcBef>
            </a:pPr>
            <a:r>
              <a:rPr lang="zh-CN" sz="1000" b="0" i="0">
                <a:solidFill>
                  <a:srgbClr val="9AA7BD"/>
                </a:solidFill>
                <a:latin typeface="微软雅黑"/>
                <a:ea typeface="微软雅黑"/>
              </a:rPr>
              <a:t>GetDownloadSize(labels)
dll + Loading + 字体 [+FirstPack]</a:t>
            </a:r>
          </a:p>
        </p:txBody>
      </p:sp>
      <p:sp>
        <p:nvSpPr>
          <p:cNvPr id="80" name="ar"/>
          <p:cNvSpPr/>
          <p:nvPr/>
        </p:nvSpPr>
        <p:spPr>
          <a:xfrm>
            <a:off x="8842248" y="2377440"/>
            <a:ext cx="146304" cy="457200"/>
          </a:xfrm>
          <a:prstGeom prst="rightArrow">
            <a:avLst/>
          </a:prstGeom>
          <a:solidFill>
            <a:srgbClr val="9AA7BD"/>
          </a:solidFill>
          <a:ln>
            <a:noFill/>
          </a:ln>
        </p:spPr>
        <p:txBody>
          <a:bodyPr/>
          <a:lstStyle/>
          <a:p/>
        </p:txBody>
      </p:sp>
      <p:sp>
        <p:nvSpPr>
          <p:cNvPr id="81" name="rc"/>
          <p:cNvSpPr/>
          <p:nvPr/>
        </p:nvSpPr>
        <p:spPr>
          <a:xfrm>
            <a:off x="8970264" y="1691640"/>
            <a:ext cx="2697480" cy="1828800"/>
          </a:xfrm>
          <a:prstGeom prst="roundRect">
            <a:avLst/>
          </a:prstGeom>
          <a:solidFill>
            <a:srgbClr val="1B2233"/>
          </a:solidFill>
          <a:ln w="12700">
            <a:solidFill>
              <a:srgbClr val="32405C"/>
            </a:solidFill>
          </a:ln>
        </p:spPr>
        <p:txBody>
          <a:bodyPr/>
          <a:lstStyle/>
          <a:p/>
        </p:txBody>
      </p:sp>
      <p:sp>
        <p:nvSpPr>
          <p:cNvPr id="82" name="tx"/>
          <p:cNvSpPr txBox="1"/>
          <p:nvPr/>
        </p:nvSpPr>
        <p:spPr>
          <a:xfrm>
            <a:off x="8970264" y="1691640"/>
            <a:ext cx="2697480" cy="182880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normAutofit/>
          </a:bodyPr>
          <a:lstStyle/>
          <a:p>
            <a:pPr algn="ctr">
              <a:buNone/>
            </a:pPr>
            <a:r>
              <a:rPr lang="zh-CN" sz="1450" b="1" i="0">
                <a:solidFill>
                  <a:srgbClr val="FFB454"/>
                </a:solidFill>
                <a:latin typeface="微软雅黑"/>
                <a:ea typeface="微软雅黑"/>
              </a:rPr>
              <a:t>4  下载 bundle</a:t>
            </a:r>
          </a:p>
          <a:p>
            <a:pPr algn="ctr">
              <a:buNone/>
              <a:spcBef>
                <a:spcPts val="300"/>
              </a:spcBef>
            </a:pPr>
            <a:r>
              <a:rPr lang="zh-CN" sz="1000" b="0" i="0">
                <a:solidFill>
                  <a:srgbClr val="9AA7BD"/>
                </a:solidFill>
                <a:latin typeface="微软雅黑"/>
                <a:ea typeface="微软雅黑"/>
              </a:rPr>
              <a:t>DownloadDependencies
单次合并下载，失败切CDN/修复</a:t>
            </a:r>
          </a:p>
        </p:txBody>
      </p:sp>
      <p:sp>
        <p:nvSpPr>
          <p:cNvPr id="83" name="rc"/>
          <p:cNvSpPr/>
          <p:nvPr/>
        </p:nvSpPr>
        <p:spPr>
          <a:xfrm>
            <a:off x="548640" y="4160520"/>
            <a:ext cx="2697480" cy="1828800"/>
          </a:xfrm>
          <a:prstGeom prst="roundRect">
            <a:avLst/>
          </a:prstGeom>
          <a:solidFill>
            <a:srgbClr val="1B2233"/>
          </a:solidFill>
          <a:ln w="12700">
            <a:solidFill>
              <a:srgbClr val="32405C"/>
            </a:solidFill>
          </a:ln>
        </p:spPr>
        <p:txBody>
          <a:bodyPr/>
          <a:lstStyle/>
          <a:p/>
        </p:txBody>
      </p:sp>
      <p:sp>
        <p:nvSpPr>
          <p:cNvPr id="84" name="tx"/>
          <p:cNvSpPr txBox="1"/>
          <p:nvPr/>
        </p:nvSpPr>
        <p:spPr>
          <a:xfrm>
            <a:off x="548640" y="4160520"/>
            <a:ext cx="2697480" cy="182880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normAutofit/>
          </a:bodyPr>
          <a:lstStyle/>
          <a:p>
            <a:pPr algn="ctr">
              <a:buNone/>
            </a:pPr>
            <a:r>
              <a:rPr lang="zh-CN" sz="1450" b="1" i="0">
                <a:solidFill>
                  <a:srgbClr val="53D08A"/>
                </a:solidFill>
                <a:latin typeface="微软雅黑"/>
                <a:ea typeface="微软雅黑"/>
              </a:rPr>
              <a:t>5  取 DLL 字节</a:t>
            </a:r>
          </a:p>
          <a:p>
            <a:pPr algn="ctr">
              <a:buNone/>
              <a:spcBef>
                <a:spcPts val="300"/>
              </a:spcBef>
            </a:pPr>
            <a:r>
              <a:rPr lang="zh-CN" sz="1000" b="0" i="0">
                <a:solidFill>
                  <a:srgbClr val="9AA7BD"/>
                </a:solidFill>
                <a:latin typeface="微软雅黑"/>
                <a:ea typeface="微软雅黑"/>
              </a:rPr>
              <a:t>分帧从 bundle 提取
name → byte[]</a:t>
            </a:r>
          </a:p>
        </p:txBody>
      </p:sp>
      <p:sp>
        <p:nvSpPr>
          <p:cNvPr id="85" name="ar"/>
          <p:cNvSpPr/>
          <p:nvPr/>
        </p:nvSpPr>
        <p:spPr>
          <a:xfrm>
            <a:off x="3227832" y="4846320"/>
            <a:ext cx="146304" cy="457200"/>
          </a:xfrm>
          <a:prstGeom prst="rightArrow">
            <a:avLst/>
          </a:prstGeom>
          <a:solidFill>
            <a:srgbClr val="9AA7BD"/>
          </a:solidFill>
          <a:ln>
            <a:noFill/>
          </a:ln>
        </p:spPr>
        <p:txBody>
          <a:bodyPr/>
          <a:lstStyle/>
          <a:p/>
        </p:txBody>
      </p:sp>
      <p:sp>
        <p:nvSpPr>
          <p:cNvPr id="86" name="rc"/>
          <p:cNvSpPr/>
          <p:nvPr/>
        </p:nvSpPr>
        <p:spPr>
          <a:xfrm>
            <a:off x="3355848" y="4160520"/>
            <a:ext cx="2697480" cy="1828800"/>
          </a:xfrm>
          <a:prstGeom prst="roundRect">
            <a:avLst/>
          </a:prstGeom>
          <a:solidFill>
            <a:srgbClr val="1B2233"/>
          </a:solidFill>
          <a:ln w="12700">
            <a:solidFill>
              <a:srgbClr val="32405C"/>
            </a:solidFill>
          </a:ln>
        </p:spPr>
        <p:txBody>
          <a:bodyPr/>
          <a:lstStyle/>
          <a:p/>
        </p:txBody>
      </p:sp>
      <p:sp>
        <p:nvSpPr>
          <p:cNvPr id="87" name="tx"/>
          <p:cNvSpPr txBox="1"/>
          <p:nvPr/>
        </p:nvSpPr>
        <p:spPr>
          <a:xfrm>
            <a:off x="3355848" y="4160520"/>
            <a:ext cx="2697480" cy="182880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normAutofit/>
          </a:bodyPr>
          <a:lstStyle/>
          <a:p>
            <a:pPr algn="ctr">
              <a:buNone/>
            </a:pPr>
            <a:r>
              <a:rPr lang="zh-CN" sz="1450" b="1" i="0">
                <a:solidFill>
                  <a:srgbClr val="53D08A"/>
                </a:solidFill>
                <a:latin typeface="微软雅黑"/>
                <a:ea typeface="微软雅黑"/>
              </a:rPr>
              <a:t>6  补元数据</a:t>
            </a:r>
          </a:p>
          <a:p>
            <a:pPr algn="ctr">
              <a:buNone/>
              <a:spcBef>
                <a:spcPts val="300"/>
              </a:spcBef>
            </a:pPr>
            <a:r>
              <a:rPr lang="zh-CN" sz="1000" b="0" i="0">
                <a:solidFill>
                  <a:srgbClr val="9AA7BD"/>
                </a:solidFill>
                <a:latin typeface="微软雅黑"/>
                <a:ea typeface="微软雅黑"/>
              </a:rPr>
              <a:t>LoadMetadataForAOTAssembly
按 AOT 名单循环</a:t>
            </a:r>
          </a:p>
        </p:txBody>
      </p:sp>
      <p:sp>
        <p:nvSpPr>
          <p:cNvPr id="88" name="ar"/>
          <p:cNvSpPr/>
          <p:nvPr/>
        </p:nvSpPr>
        <p:spPr>
          <a:xfrm>
            <a:off x="6035040" y="4846320"/>
            <a:ext cx="146304" cy="457200"/>
          </a:xfrm>
          <a:prstGeom prst="rightArrow">
            <a:avLst/>
          </a:prstGeom>
          <a:solidFill>
            <a:srgbClr val="9AA7BD"/>
          </a:solidFill>
          <a:ln>
            <a:noFill/>
          </a:ln>
        </p:spPr>
        <p:txBody>
          <a:bodyPr/>
          <a:lstStyle/>
          <a:p/>
        </p:txBody>
      </p:sp>
      <p:sp>
        <p:nvSpPr>
          <p:cNvPr id="89" name="rc"/>
          <p:cNvSpPr/>
          <p:nvPr/>
        </p:nvSpPr>
        <p:spPr>
          <a:xfrm>
            <a:off x="6163056" y="4160520"/>
            <a:ext cx="2697480" cy="1828800"/>
          </a:xfrm>
          <a:prstGeom prst="roundRect">
            <a:avLst/>
          </a:prstGeom>
          <a:solidFill>
            <a:srgbClr val="1B2233"/>
          </a:solidFill>
          <a:ln w="12700">
            <a:solidFill>
              <a:srgbClr val="32405C"/>
            </a:solidFill>
          </a:ln>
        </p:spPr>
        <p:txBody>
          <a:bodyPr/>
          <a:lstStyle/>
          <a:p/>
        </p:txBody>
      </p:sp>
      <p:sp>
        <p:nvSpPr>
          <p:cNvPr id="90" name="tx"/>
          <p:cNvSpPr txBox="1"/>
          <p:nvPr/>
        </p:nvSpPr>
        <p:spPr>
          <a:xfrm>
            <a:off x="6163056" y="4160520"/>
            <a:ext cx="2697480" cy="182880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normAutofit/>
          </a:bodyPr>
          <a:lstStyle/>
          <a:p>
            <a:pPr algn="ctr">
              <a:buNone/>
            </a:pPr>
            <a:r>
              <a:rPr lang="zh-CN" sz="1450" b="1" i="0">
                <a:solidFill>
                  <a:srgbClr val="53D08A"/>
                </a:solidFill>
                <a:latin typeface="微软雅黑"/>
                <a:ea typeface="微软雅黑"/>
              </a:rPr>
              <a:t>7  Assembly.Load</a:t>
            </a:r>
          </a:p>
          <a:p>
            <a:pPr algn="ctr">
              <a:buNone/>
              <a:spcBef>
                <a:spcPts val="300"/>
              </a:spcBef>
            </a:pPr>
            <a:r>
              <a:rPr lang="zh-CN" sz="1000" b="0" i="0">
                <a:solidFill>
                  <a:srgbClr val="9AA7BD"/>
                </a:solidFill>
                <a:latin typeface="微软雅黑"/>
                <a:ea typeface="微软雅黑"/>
              </a:rPr>
              <a:t>加载 Game.dll</a:t>
            </a:r>
          </a:p>
        </p:txBody>
      </p:sp>
      <p:sp>
        <p:nvSpPr>
          <p:cNvPr id="91" name="ar"/>
          <p:cNvSpPr/>
          <p:nvPr/>
        </p:nvSpPr>
        <p:spPr>
          <a:xfrm>
            <a:off x="8842248" y="4846320"/>
            <a:ext cx="146304" cy="457200"/>
          </a:xfrm>
          <a:prstGeom prst="rightArrow">
            <a:avLst/>
          </a:prstGeom>
          <a:solidFill>
            <a:srgbClr val="9AA7BD"/>
          </a:solidFill>
          <a:ln>
            <a:noFill/>
          </a:ln>
        </p:spPr>
        <p:txBody>
          <a:bodyPr/>
          <a:lstStyle/>
          <a:p/>
        </p:txBody>
      </p:sp>
      <p:sp>
        <p:nvSpPr>
          <p:cNvPr id="92" name="rc"/>
          <p:cNvSpPr/>
          <p:nvPr/>
        </p:nvSpPr>
        <p:spPr>
          <a:xfrm>
            <a:off x="8970264" y="4160520"/>
            <a:ext cx="2697480" cy="1828800"/>
          </a:xfrm>
          <a:prstGeom prst="roundRect">
            <a:avLst/>
          </a:prstGeom>
          <a:solidFill>
            <a:srgbClr val="1B2233"/>
          </a:solidFill>
          <a:ln w="12700">
            <a:solidFill>
              <a:srgbClr val="32405C"/>
            </a:solidFill>
          </a:ln>
        </p:spPr>
        <p:txBody>
          <a:bodyPr/>
          <a:lstStyle/>
          <a:p/>
        </p:txBody>
      </p:sp>
      <p:sp>
        <p:nvSpPr>
          <p:cNvPr id="93" name="tx"/>
          <p:cNvSpPr txBox="1"/>
          <p:nvPr/>
        </p:nvSpPr>
        <p:spPr>
          <a:xfrm>
            <a:off x="8970264" y="4160520"/>
            <a:ext cx="2697480" cy="182880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normAutofit/>
          </a:bodyPr>
          <a:lstStyle/>
          <a:p>
            <a:pPr algn="ctr">
              <a:buNone/>
            </a:pPr>
            <a:r>
              <a:rPr lang="zh-CN" sz="1450" b="1" i="0">
                <a:solidFill>
                  <a:srgbClr val="FFFFFF"/>
                </a:solidFill>
                <a:latin typeface="微软雅黑"/>
                <a:ea typeface="微软雅黑"/>
              </a:rPr>
              <a:t>8  反射进入</a:t>
            </a:r>
          </a:p>
          <a:p>
            <a:pPr algn="ctr">
              <a:buNone/>
              <a:spcBef>
                <a:spcPts val="300"/>
              </a:spcBef>
            </a:pPr>
            <a:r>
              <a:rPr lang="zh-CN" sz="1000" b="0" i="0">
                <a:solidFill>
                  <a:srgbClr val="9AA7BD"/>
                </a:solidFill>
                <a:latin typeface="微软雅黑"/>
                <a:ea typeface="微软雅黑"/>
              </a:rPr>
              <a:t>MainScript.Start()
→ 热更世界</a:t>
            </a:r>
          </a:p>
        </p:txBody>
      </p:sp>
      <p:sp>
        <p:nvSpPr>
          <p:cNvPr id="94" name="ar"/>
          <p:cNvSpPr/>
          <p:nvPr/>
        </p:nvSpPr>
        <p:spPr>
          <a:xfrm>
            <a:off x="10181844" y="3566160"/>
            <a:ext cx="365760" cy="457200"/>
          </a:xfrm>
          <a:prstGeom prst="downArrow">
            <a:avLst/>
          </a:prstGeom>
          <a:solidFill>
            <a:srgbClr val="FFB454"/>
          </a:solidFill>
          <a:ln>
            <a:noFill/>
          </a:ln>
        </p:spPr>
        <p:txBody>
          <a:bodyPr/>
          <a:lstStyle/>
          <a:p/>
        </p:txBody>
      </p:sp>
      <p:sp>
        <p:nvSpPr>
          <p:cNvPr id="95" name="tx"/>
          <p:cNvSpPr txBox="1"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rmAutofit/>
          </a:bodyPr>
          <a:lstStyle/>
          <a:p>
            <a:pPr algn="l">
              <a:buNone/>
            </a:pPr>
            <a:r>
              <a:rPr lang="zh-CN" sz="1150" b="1" i="0">
                <a:solidFill>
                  <a:srgbClr val="FFB454"/>
                </a:solidFill>
                <a:latin typeface="微软雅黑"/>
                <a:ea typeface="微软雅黑"/>
              </a:rPr>
              <a:t>STEP2 资源更新（1-4）</a:t>
            </a:r>
            <a:r>
              <a:rPr lang="zh-CN" sz="1150" b="0" i="0">
                <a:solidFill>
                  <a:srgbClr val="9AA7BD"/>
                </a:solidFill>
                <a:latin typeface="微软雅黑"/>
                <a:ea typeface="微软雅黑"/>
              </a:rPr>
              <a:t>   ·   </a:t>
            </a:r>
            <a:r>
              <a:rPr lang="zh-CN" sz="1150" b="1" i="0">
                <a:solidFill>
                  <a:srgbClr val="53D08A"/>
                </a:solidFill>
                <a:latin typeface="微软雅黑"/>
                <a:ea typeface="微软雅黑"/>
              </a:rPr>
              <a:t>STEP3 程序集加载（5-8）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rc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20"/>
          </a:solidFill>
          <a:ln>
            <a:noFill/>
          </a:ln>
        </p:spPr>
        <p:txBody>
          <a:bodyPr/>
          <a:lstStyle/>
          <a:p/>
        </p:txBody>
      </p:sp>
      <p:sp>
        <p:nvSpPr>
          <p:cNvPr id="97" name="rc"/>
          <p:cNvSpPr/>
          <p:nvPr/>
        </p:nvSpPr>
        <p:spPr>
          <a:xfrm>
            <a:off x="0" y="502920"/>
            <a:ext cx="128016" cy="868680"/>
          </a:xfrm>
          <a:prstGeom prst="rect">
            <a:avLst/>
          </a:prstGeom>
          <a:solidFill>
            <a:srgbClr val="4EA1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8" name="tx"/>
          <p:cNvSpPr txBox="1"/>
          <p:nvPr/>
        </p:nvSpPr>
        <p:spPr>
          <a:xfrm>
            <a:off x="384048" y="457200"/>
            <a:ext cx="10058400" cy="50292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rmAutofit/>
          </a:bodyPr>
          <a:lstStyle/>
          <a:p>
            <a:pPr algn="l">
              <a:buNone/>
            </a:pPr>
            <a:r>
              <a:rPr lang="zh-CN" sz="2600" b="1" i="0">
                <a:solidFill>
                  <a:srgbClr val="FFFFFF"/>
                </a:solidFill>
                <a:latin typeface="微软雅黑"/>
                <a:ea typeface="微软雅黑"/>
              </a:rPr>
              <a:t>CDN 相关三大机制</a:t>
            </a:r>
          </a:p>
        </p:txBody>
      </p:sp>
      <p:sp>
        <p:nvSpPr>
          <p:cNvPr id="99" name="tx"/>
          <p:cNvSpPr txBox="1"/>
          <p:nvPr/>
        </p:nvSpPr>
        <p:spPr>
          <a:xfrm>
            <a:off x="402336" y="987552"/>
            <a:ext cx="10515600" cy="36576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rmAutofit/>
          </a:bodyPr>
          <a:lstStyle/>
          <a:p>
            <a:pPr algn="l">
              <a:buNone/>
            </a:pPr>
            <a:r>
              <a:rPr lang="zh-CN" sz="1200" b="0" i="0">
                <a:solidFill>
                  <a:srgbClr val="4EA1FF"/>
                </a:solidFill>
                <a:latin typeface="微软雅黑"/>
                <a:ea typeface="微软雅黑"/>
              </a:rPr>
              <a:t>CDN MECHANICS</a:t>
            </a:r>
          </a:p>
        </p:txBody>
      </p:sp>
      <p:sp>
        <p:nvSpPr>
          <p:cNvPr id="100" name="tx"/>
          <p:cNvSpPr txBox="1"/>
          <p:nvPr/>
        </p:nvSpPr>
        <p:spPr>
          <a:xfrm>
            <a:off x="11155680" y="457200"/>
            <a:ext cx="914400" cy="36576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rmAutofit/>
          </a:bodyPr>
          <a:lstStyle/>
          <a:p>
            <a:pPr algn="r">
              <a:buNone/>
            </a:pPr>
            <a:r>
              <a:rPr lang="zh-CN" sz="1400" b="1" i="0">
                <a:solidFill>
                  <a:srgbClr val="9AA7BD"/>
                </a:solidFill>
                <a:latin typeface="微软雅黑"/>
                <a:ea typeface="微软雅黑"/>
              </a:rPr>
              <a:t>07</a:t>
            </a:r>
          </a:p>
        </p:txBody>
      </p:sp>
      <p:sp>
        <p:nvSpPr>
          <p:cNvPr id="101" name="rc"/>
          <p:cNvSpPr/>
          <p:nvPr/>
        </p:nvSpPr>
        <p:spPr>
          <a:xfrm>
            <a:off x="548640" y="1645920"/>
            <a:ext cx="3566160" cy="4206240"/>
          </a:xfrm>
          <a:prstGeom prst="roundRect">
            <a:avLst/>
          </a:prstGeom>
          <a:solidFill>
            <a:srgbClr val="1B2233"/>
          </a:solidFill>
          <a:ln w="12700">
            <a:solidFill>
              <a:srgbClr val="32405C"/>
            </a:solidFill>
          </a:ln>
        </p:spPr>
        <p:txBody>
          <a:bodyPr/>
          <a:lstStyle/>
          <a:p/>
        </p:txBody>
      </p:sp>
      <p:sp>
        <p:nvSpPr>
          <p:cNvPr id="102" name="tx"/>
          <p:cNvSpPr txBox="1"/>
          <p:nvPr/>
        </p:nvSpPr>
        <p:spPr>
          <a:xfrm>
            <a:off x="548640" y="1645920"/>
            <a:ext cx="3566160" cy="420624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normAutofit/>
          </a:bodyPr>
          <a:lstStyle/>
          <a:p>
            <a:pPr algn="ctr">
              <a:buNone/>
            </a:pPr>
            <a:r>
              <a:rPr lang="zh-CN" sz="100" b="1" i="0">
                <a:solidFill>
                  <a:srgbClr val="E6ECF5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103" name="tx"/>
          <p:cNvSpPr txBox="1"/>
          <p:nvPr/>
        </p:nvSpPr>
        <p:spPr>
          <a:xfrm>
            <a:off x="777240" y="1828800"/>
            <a:ext cx="3200400" cy="393192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rmAutofit/>
          </a:bodyPr>
          <a:lstStyle/>
          <a:p>
            <a:pPr algn="l">
              <a:buNone/>
            </a:pPr>
            <a:r>
              <a:rPr lang="zh-CN" sz="1550" b="1" i="0">
                <a:solidFill>
                  <a:srgbClr val="4EA1FF"/>
                </a:solidFill>
                <a:latin typeface="微软雅黑"/>
                <a:ea typeface="微软雅黑"/>
              </a:rPr>
              <a:t>① 地址解耦</a:t>
            </a:r>
          </a:p>
          <a:p>
            <a:pPr algn="l" marL="228600" indent="-228600">
              <a:buFont typeface="Arial"/>
              <a:buChar char="•"/>
              <a:spcBef>
                <a:spcPts val="400"/>
              </a:spcBef>
            </a:pPr>
            <a:r>
              <a:rPr lang="zh-CN" sz="1200" b="0" i="0">
                <a:solidFill>
                  <a:srgbClr val="E6ECF5"/>
                </a:solidFill>
                <a:latin typeface="微软雅黑"/>
                <a:ea typeface="微软雅黑"/>
              </a:rPr>
              <a:t>包里 = 占位符 CDN_PLACEHOLDER</a:t>
            </a:r>
          </a:p>
          <a:p>
            <a:pPr algn="l" marL="228600" indent="-228600">
              <a:buFont typeface="Arial"/>
              <a:buChar char="•"/>
              <a:spcBef>
                <a:spcPts val="400"/>
              </a:spcBef>
            </a:pPr>
            <a:r>
              <a:rPr lang="zh-CN" sz="1200" b="0" i="0">
                <a:solidFill>
                  <a:srgbClr val="E6ECF5"/>
                </a:solidFill>
                <a:latin typeface="微软雅黑"/>
                <a:ea typeface="微软雅黑"/>
              </a:rPr>
              <a:t>真实域名版本接口下发</a:t>
            </a:r>
          </a:p>
          <a:p>
            <a:pPr algn="l" marL="228600" indent="-228600">
              <a:buFont typeface="Arial"/>
              <a:buChar char="•"/>
              <a:spcBef>
                <a:spcPts val="400"/>
              </a:spcBef>
            </a:pPr>
            <a:r>
              <a:rPr lang="zh-CN" sz="1200" b="0" i="0">
                <a:solidFill>
                  <a:srgbClr val="E6ECF5"/>
                </a:solidFill>
                <a:latin typeface="微软雅黑"/>
                <a:ea typeface="微软雅黑"/>
              </a:rPr>
              <a:t>运行时 WebRequestOverride 注入</a:t>
            </a:r>
          </a:p>
          <a:p>
            <a:pPr algn="l" marL="228600" indent="-228600">
              <a:buFont typeface="Arial"/>
              <a:buChar char="•"/>
              <a:spcBef>
                <a:spcPts val="400"/>
              </a:spcBef>
            </a:pPr>
            <a:r>
              <a:rPr lang="zh-CN" sz="1200" b="0" i="0">
                <a:solidFill>
                  <a:srgbClr val="53D08A"/>
                </a:solidFill>
                <a:latin typeface="微软雅黑"/>
                <a:ea typeface="微软雅黑"/>
              </a:rPr>
              <a:t>一个包切任意 CDN/环境</a:t>
            </a:r>
          </a:p>
        </p:txBody>
      </p:sp>
      <p:sp>
        <p:nvSpPr>
          <p:cNvPr id="104" name="rc"/>
          <p:cNvSpPr/>
          <p:nvPr/>
        </p:nvSpPr>
        <p:spPr>
          <a:xfrm>
            <a:off x="4297680" y="1645920"/>
            <a:ext cx="3566160" cy="4206240"/>
          </a:xfrm>
          <a:prstGeom prst="roundRect">
            <a:avLst/>
          </a:prstGeom>
          <a:solidFill>
            <a:srgbClr val="1B2233"/>
          </a:solidFill>
          <a:ln w="12700">
            <a:solidFill>
              <a:srgbClr val="32405C"/>
            </a:solidFill>
          </a:ln>
        </p:spPr>
        <p:txBody>
          <a:bodyPr/>
          <a:lstStyle/>
          <a:p/>
        </p:txBody>
      </p:sp>
      <p:sp>
        <p:nvSpPr>
          <p:cNvPr id="105" name="tx"/>
          <p:cNvSpPr txBox="1"/>
          <p:nvPr/>
        </p:nvSpPr>
        <p:spPr>
          <a:xfrm>
            <a:off x="4297680" y="1645920"/>
            <a:ext cx="3566160" cy="420624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normAutofit/>
          </a:bodyPr>
          <a:lstStyle/>
          <a:p>
            <a:pPr algn="ctr">
              <a:buNone/>
            </a:pPr>
            <a:r>
              <a:rPr lang="zh-CN" sz="100" b="1" i="0">
                <a:solidFill>
                  <a:srgbClr val="E6ECF5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106" name="tx"/>
          <p:cNvSpPr txBox="1"/>
          <p:nvPr/>
        </p:nvSpPr>
        <p:spPr>
          <a:xfrm>
            <a:off x="4526280" y="1828800"/>
            <a:ext cx="3200400" cy="393192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rmAutofit/>
          </a:bodyPr>
          <a:lstStyle/>
          <a:p>
            <a:pPr algn="l">
              <a:buNone/>
            </a:pPr>
            <a:r>
              <a:rPr lang="zh-CN" sz="1550" b="1" i="0">
                <a:solidFill>
                  <a:srgbClr val="FFB454"/>
                </a:solidFill>
                <a:latin typeface="微软雅黑"/>
                <a:ea typeface="微软雅黑"/>
              </a:rPr>
              <a:t>② 版本命名</a:t>
            </a:r>
          </a:p>
          <a:p>
            <a:pPr algn="l" marL="228600" indent="-228600">
              <a:buFont typeface="Arial"/>
              <a:buChar char="•"/>
              <a:spcBef>
                <a:spcPts val="400"/>
              </a:spcBef>
            </a:pPr>
            <a:r>
              <a:rPr lang="zh-CN" sz="1150" b="0" i="0">
                <a:solidFill>
                  <a:srgbClr val="E6ECF5"/>
                </a:solidFill>
                <a:latin typeface="微软雅黑"/>
                <a:ea typeface="微软雅黑"/>
              </a:rPr>
              <a:t>catalog_{渠道}_{大版本}_{热更版本}.hash</a:t>
            </a:r>
          </a:p>
          <a:p>
            <a:pPr algn="l" marL="228600" indent="-228600">
              <a:buFont typeface="Arial"/>
              <a:buChar char="•"/>
              <a:spcBef>
                <a:spcPts val="400"/>
              </a:spcBef>
            </a:pPr>
            <a:r>
              <a:rPr lang="zh-CN" sz="1200" b="0" i="0">
                <a:solidFill>
                  <a:srgbClr val="E6ECF5"/>
                </a:solidFill>
                <a:latin typeface="微软雅黑"/>
                <a:ea typeface="微软雅黑"/>
              </a:rPr>
              <a:t>?v=时间戳 防 CDN 缓存</a:t>
            </a:r>
          </a:p>
          <a:p>
            <a:pPr algn="l" marL="228600" indent="-228600">
              <a:buFont typeface="Arial"/>
              <a:buChar char="•"/>
              <a:spcBef>
                <a:spcPts val="400"/>
              </a:spcBef>
            </a:pPr>
            <a:r>
              <a:rPr lang="zh-CN" sz="1200" b="0" i="0">
                <a:solidFill>
                  <a:srgbClr val="E6ECF5"/>
                </a:solidFill>
                <a:latin typeface="微软雅黑"/>
                <a:ea typeface="微软雅黑"/>
              </a:rPr>
              <a:t>渠道/版本编进文件名 → 缓存不串</a:t>
            </a:r>
          </a:p>
          <a:p>
            <a:pPr algn="l" marL="228600" indent="-228600">
              <a:buFont typeface="Arial"/>
              <a:buChar char="•"/>
              <a:spcBef>
                <a:spcPts val="400"/>
              </a:spcBef>
            </a:pPr>
            <a:r>
              <a:rPr lang="zh-CN" sz="1200" b="0" i="0">
                <a:solidFill>
                  <a:srgbClr val="E6ECF5"/>
                </a:solidFill>
                <a:latin typeface="微软雅黑"/>
                <a:ea typeface="微软雅黑"/>
              </a:rPr>
              <a:t>同大版本内小版本共享热更</a:t>
            </a:r>
          </a:p>
        </p:txBody>
      </p:sp>
      <p:sp>
        <p:nvSpPr>
          <p:cNvPr id="107" name="rc"/>
          <p:cNvSpPr/>
          <p:nvPr/>
        </p:nvSpPr>
        <p:spPr>
          <a:xfrm>
            <a:off x="8046720" y="1645920"/>
            <a:ext cx="3566160" cy="4206240"/>
          </a:xfrm>
          <a:prstGeom prst="roundRect">
            <a:avLst/>
          </a:prstGeom>
          <a:solidFill>
            <a:srgbClr val="1B2233"/>
          </a:solidFill>
          <a:ln w="12700">
            <a:solidFill>
              <a:srgbClr val="32405C"/>
            </a:solidFill>
          </a:ln>
        </p:spPr>
        <p:txBody>
          <a:bodyPr/>
          <a:lstStyle/>
          <a:p/>
        </p:txBody>
      </p:sp>
      <p:sp>
        <p:nvSpPr>
          <p:cNvPr id="108" name="tx"/>
          <p:cNvSpPr txBox="1"/>
          <p:nvPr/>
        </p:nvSpPr>
        <p:spPr>
          <a:xfrm>
            <a:off x="8046720" y="1645920"/>
            <a:ext cx="3566160" cy="420624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normAutofit/>
          </a:bodyPr>
          <a:lstStyle/>
          <a:p>
            <a:pPr algn="ctr">
              <a:buNone/>
            </a:pPr>
            <a:r>
              <a:rPr lang="zh-CN" sz="100" b="1" i="0">
                <a:solidFill>
                  <a:srgbClr val="E6ECF5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109" name="tx"/>
          <p:cNvSpPr txBox="1"/>
          <p:nvPr/>
        </p:nvSpPr>
        <p:spPr>
          <a:xfrm>
            <a:off x="8275320" y="1828800"/>
            <a:ext cx="3200400" cy="393192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rmAutofit/>
          </a:bodyPr>
          <a:lstStyle/>
          <a:p>
            <a:pPr algn="l">
              <a:buNone/>
            </a:pPr>
            <a:r>
              <a:rPr lang="zh-CN" sz="1550" b="1" i="0">
                <a:solidFill>
                  <a:srgbClr val="53D08A"/>
                </a:solidFill>
                <a:latin typeface="微软雅黑"/>
                <a:ea typeface="微软雅黑"/>
              </a:rPr>
              <a:t>③ 多 CDN 切线</a:t>
            </a:r>
          </a:p>
          <a:p>
            <a:pPr algn="l" marL="228600" indent="-228600">
              <a:buFont typeface="Arial"/>
              <a:buChar char="•"/>
              <a:spcBef>
                <a:spcPts val="400"/>
              </a:spcBef>
            </a:pPr>
            <a:r>
              <a:rPr lang="zh-CN" sz="1200" b="0" i="0">
                <a:solidFill>
                  <a:srgbClr val="E6ECF5"/>
                </a:solidFill>
                <a:latin typeface="微软雅黑"/>
                <a:ea typeface="微软雅黑"/>
              </a:rPr>
              <a:t>每节点一个信用分</a:t>
            </a:r>
          </a:p>
          <a:p>
            <a:pPr algn="l" marL="228600" indent="-228600">
              <a:buFont typeface="Arial"/>
              <a:buChar char="•"/>
              <a:spcBef>
                <a:spcPts val="400"/>
              </a:spcBef>
            </a:pPr>
            <a:r>
              <a:rPr lang="zh-CN" sz="1200" b="0" i="0">
                <a:solidFill>
                  <a:srgbClr val="E6ECF5"/>
                </a:solidFill>
                <a:latin typeface="微软雅黑"/>
                <a:ea typeface="微软雅黑"/>
              </a:rPr>
              <a:t>网络类错误 → 扣分切下一节点</a:t>
            </a:r>
          </a:p>
          <a:p>
            <a:pPr algn="l" marL="228600" indent="-228600">
              <a:buFont typeface="Arial"/>
              <a:buChar char="•"/>
              <a:spcBef>
                <a:spcPts val="400"/>
              </a:spcBef>
            </a:pPr>
            <a:r>
              <a:rPr lang="zh-CN" sz="1200" b="0" i="0">
                <a:solidFill>
                  <a:srgbClr val="E6ECF5"/>
                </a:solidFill>
                <a:latin typeface="微软雅黑"/>
                <a:ea typeface="微软雅黑"/>
              </a:rPr>
              <a:t>内容/磁盘类错误 → 不切线</a:t>
            </a:r>
          </a:p>
          <a:p>
            <a:pPr algn="l" marL="228600" indent="-228600">
              <a:buFont typeface="Arial"/>
              <a:buChar char="•"/>
              <a:spcBef>
                <a:spcPts val="400"/>
              </a:spcBef>
            </a:pPr>
            <a:r>
              <a:rPr lang="zh-CN" sz="1200" b="0" i="0">
                <a:solidFill>
                  <a:srgbClr val="E6ECF5"/>
                </a:solidFill>
                <a:latin typeface="微软雅黑"/>
                <a:ea typeface="微软雅黑"/>
              </a:rPr>
              <a:t>成功一次 → 信用分恢复</a:t>
            </a:r>
          </a:p>
        </p:txBody>
      </p:sp>
      <p:sp>
        <p:nvSpPr>
          <p:cNvPr id="110" name="tx"/>
          <p:cNvSpPr txBox="1"/>
          <p:nvPr/>
        </p:nvSpPr>
        <p:spPr>
          <a:xfrm>
            <a:off x="548640" y="6080760"/>
            <a:ext cx="11064240" cy="45720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rmAutofit/>
          </a:bodyPr>
          <a:lstStyle/>
          <a:p>
            <a:pPr algn="l">
              <a:buNone/>
            </a:pPr>
            <a:r>
              <a:rPr lang="zh-CN" sz="1200" b="0" i="0">
                <a:solidFill>
                  <a:srgbClr val="9AA7BD"/>
                </a:solidFill>
                <a:latin typeface="微软雅黑"/>
                <a:ea typeface="微软雅黑"/>
              </a:rPr>
              <a:t>核心思想：CDN 域名与「资源身份 (key/hash)」彻底解耦 —— 换 CDN 不影响缓存命中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rc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20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" name="rc"/>
          <p:cNvSpPr/>
          <p:nvPr/>
        </p:nvSpPr>
        <p:spPr>
          <a:xfrm>
            <a:off x="0" y="502920"/>
            <a:ext cx="128016" cy="868680"/>
          </a:xfrm>
          <a:prstGeom prst="rect">
            <a:avLst/>
          </a:prstGeom>
          <a:solidFill>
            <a:srgbClr val="4EA1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" name="tx"/>
          <p:cNvSpPr txBox="1"/>
          <p:nvPr/>
        </p:nvSpPr>
        <p:spPr>
          <a:xfrm>
            <a:off x="384048" y="457200"/>
            <a:ext cx="10058400" cy="50292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rmAutofit/>
          </a:bodyPr>
          <a:lstStyle/>
          <a:p>
            <a:pPr algn="l">
              <a:buNone/>
            </a:pPr>
            <a:r>
              <a:rPr lang="zh-CN" sz="2600" b="1" i="0">
                <a:solidFill>
                  <a:srgbClr val="FFFFFF"/>
                </a:solidFill>
                <a:latin typeface="微软雅黑"/>
                <a:ea typeface="微软雅黑"/>
              </a:rPr>
              <a:t>App 与小游戏的差异</a:t>
            </a:r>
          </a:p>
        </p:txBody>
      </p:sp>
      <p:sp>
        <p:nvSpPr>
          <p:cNvPr id="114" name="tx"/>
          <p:cNvSpPr txBox="1"/>
          <p:nvPr/>
        </p:nvSpPr>
        <p:spPr>
          <a:xfrm>
            <a:off x="402336" y="987552"/>
            <a:ext cx="10515600" cy="36576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rmAutofit/>
          </a:bodyPr>
          <a:lstStyle/>
          <a:p>
            <a:pPr algn="l">
              <a:buNone/>
            </a:pPr>
            <a:r>
              <a:rPr lang="zh-CN" sz="1200" b="0" i="0">
                <a:solidFill>
                  <a:srgbClr val="4EA1FF"/>
                </a:solidFill>
                <a:latin typeface="微软雅黑"/>
                <a:ea typeface="微软雅黑"/>
              </a:rPr>
              <a:t>PLATFORM DIFF</a:t>
            </a:r>
          </a:p>
        </p:txBody>
      </p:sp>
      <p:sp>
        <p:nvSpPr>
          <p:cNvPr id="115" name="tx"/>
          <p:cNvSpPr txBox="1"/>
          <p:nvPr/>
        </p:nvSpPr>
        <p:spPr>
          <a:xfrm>
            <a:off x="11155680" y="457200"/>
            <a:ext cx="914400" cy="36576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rmAutofit/>
          </a:bodyPr>
          <a:lstStyle/>
          <a:p>
            <a:pPr algn="r">
              <a:buNone/>
            </a:pPr>
            <a:r>
              <a:rPr lang="zh-CN" sz="1400" b="1" i="0">
                <a:solidFill>
                  <a:srgbClr val="9AA7BD"/>
                </a:solidFill>
                <a:latin typeface="微软雅黑"/>
                <a:ea typeface="微软雅黑"/>
              </a:rPr>
              <a:t>08</a:t>
            </a:r>
          </a:p>
        </p:txBody>
      </p:sp>
      <p:sp>
        <p:nvSpPr>
          <p:cNvPr id="116" name="rc"/>
          <p:cNvSpPr/>
          <p:nvPr/>
        </p:nvSpPr>
        <p:spPr>
          <a:xfrm>
            <a:off x="548640" y="1691640"/>
            <a:ext cx="2468880" cy="841248"/>
          </a:xfrm>
          <a:prstGeom prst="rect">
            <a:avLst/>
          </a:prstGeom>
          <a:solidFill>
            <a:srgbClr val="4EA1FF"/>
          </a:solidFill>
          <a:ln w="6350">
            <a:solidFill>
              <a:srgbClr val="0F1420"/>
            </a:solidFill>
          </a:ln>
        </p:spPr>
        <p:txBody>
          <a:bodyPr/>
          <a:lstStyle/>
          <a:p/>
        </p:txBody>
      </p:sp>
      <p:sp>
        <p:nvSpPr>
          <p:cNvPr id="117" name="tx"/>
          <p:cNvSpPr txBox="1"/>
          <p:nvPr/>
        </p:nvSpPr>
        <p:spPr>
          <a:xfrm>
            <a:off x="640080" y="1691640"/>
            <a:ext cx="2286000" cy="841248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normAutofit/>
          </a:bodyPr>
          <a:lstStyle/>
          <a:p>
            <a:pPr algn="l">
              <a:buNone/>
            </a:pPr>
            <a:r>
              <a:rPr lang="zh-CN" sz="1300" b="1" i="0">
                <a:solidFill>
                  <a:srgbClr val="0F1420"/>
                </a:solidFill>
                <a:latin typeface="微软雅黑"/>
                <a:ea typeface="微软雅黑"/>
              </a:rPr>
              <a:t>维度</a:t>
            </a:r>
          </a:p>
        </p:txBody>
      </p:sp>
      <p:sp>
        <p:nvSpPr>
          <p:cNvPr id="118" name="rc"/>
          <p:cNvSpPr/>
          <p:nvPr/>
        </p:nvSpPr>
        <p:spPr>
          <a:xfrm>
            <a:off x="3017520" y="1691640"/>
            <a:ext cx="4297680" cy="841248"/>
          </a:xfrm>
          <a:prstGeom prst="rect">
            <a:avLst/>
          </a:prstGeom>
          <a:solidFill>
            <a:srgbClr val="4EA1FF"/>
          </a:solidFill>
          <a:ln w="6350">
            <a:solidFill>
              <a:srgbClr val="0F1420"/>
            </a:solidFill>
          </a:ln>
        </p:spPr>
        <p:txBody>
          <a:bodyPr/>
          <a:lstStyle/>
          <a:p/>
        </p:txBody>
      </p:sp>
      <p:sp>
        <p:nvSpPr>
          <p:cNvPr id="119" name="tx"/>
          <p:cNvSpPr txBox="1"/>
          <p:nvPr/>
        </p:nvSpPr>
        <p:spPr>
          <a:xfrm>
            <a:off x="3108960" y="1691640"/>
            <a:ext cx="4114800" cy="841248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normAutofit/>
          </a:bodyPr>
          <a:lstStyle/>
          <a:p>
            <a:pPr algn="l">
              <a:buNone/>
            </a:pPr>
            <a:r>
              <a:rPr lang="zh-CN" sz="1300" b="1" i="0">
                <a:solidFill>
                  <a:srgbClr val="0F1420"/>
                </a:solidFill>
                <a:latin typeface="微软雅黑"/>
                <a:ea typeface="微软雅黑"/>
              </a:rPr>
              <a:t>App (Android/iOS)</a:t>
            </a:r>
          </a:p>
        </p:txBody>
      </p:sp>
      <p:sp>
        <p:nvSpPr>
          <p:cNvPr id="120" name="rc"/>
          <p:cNvSpPr/>
          <p:nvPr/>
        </p:nvSpPr>
        <p:spPr>
          <a:xfrm>
            <a:off x="7315200" y="1691640"/>
            <a:ext cx="4297680" cy="841248"/>
          </a:xfrm>
          <a:prstGeom prst="rect">
            <a:avLst/>
          </a:prstGeom>
          <a:solidFill>
            <a:srgbClr val="4EA1FF"/>
          </a:solidFill>
          <a:ln w="6350">
            <a:solidFill>
              <a:srgbClr val="0F1420"/>
            </a:solidFill>
          </a:ln>
        </p:spPr>
        <p:txBody>
          <a:bodyPr/>
          <a:lstStyle/>
          <a:p/>
        </p:txBody>
      </p:sp>
      <p:sp>
        <p:nvSpPr>
          <p:cNvPr id="121" name="tx"/>
          <p:cNvSpPr txBox="1"/>
          <p:nvPr/>
        </p:nvSpPr>
        <p:spPr>
          <a:xfrm>
            <a:off x="7406640" y="1691640"/>
            <a:ext cx="4114800" cy="841248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normAutofit/>
          </a:bodyPr>
          <a:lstStyle/>
          <a:p>
            <a:pPr algn="l">
              <a:buNone/>
            </a:pPr>
            <a:r>
              <a:rPr lang="zh-CN" sz="1300" b="1" i="0">
                <a:solidFill>
                  <a:srgbClr val="0F1420"/>
                </a:solidFill>
                <a:latin typeface="微软雅黑"/>
                <a:ea typeface="微软雅黑"/>
              </a:rPr>
              <a:t>小游戏 (微信/抖音 WASM)</a:t>
            </a:r>
          </a:p>
        </p:txBody>
      </p:sp>
      <p:sp>
        <p:nvSpPr>
          <p:cNvPr id="122" name="rc"/>
          <p:cNvSpPr/>
          <p:nvPr/>
        </p:nvSpPr>
        <p:spPr>
          <a:xfrm>
            <a:off x="548640" y="2532888"/>
            <a:ext cx="2468880" cy="841248"/>
          </a:xfrm>
          <a:prstGeom prst="rect">
            <a:avLst/>
          </a:prstGeom>
          <a:solidFill>
            <a:srgbClr val="1B2233"/>
          </a:solidFill>
          <a:ln w="6350">
            <a:solidFill>
              <a:srgbClr val="0F1420"/>
            </a:solidFill>
          </a:ln>
        </p:spPr>
        <p:txBody>
          <a:bodyPr/>
          <a:lstStyle/>
          <a:p/>
        </p:txBody>
      </p:sp>
      <p:sp>
        <p:nvSpPr>
          <p:cNvPr id="123" name="tx"/>
          <p:cNvSpPr txBox="1"/>
          <p:nvPr/>
        </p:nvSpPr>
        <p:spPr>
          <a:xfrm>
            <a:off x="640080" y="2532888"/>
            <a:ext cx="2286000" cy="841248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normAutofit/>
          </a:bodyPr>
          <a:lstStyle/>
          <a:p>
            <a:pPr algn="l">
              <a:buNone/>
            </a:pPr>
            <a:r>
              <a:rPr lang="zh-CN" sz="1200" b="1" i="0">
                <a:solidFill>
                  <a:srgbClr val="FFB454"/>
                </a:solidFill>
                <a:latin typeface="微软雅黑"/>
                <a:ea typeface="微软雅黑"/>
              </a:rPr>
              <a:t>随包 bundle</a:t>
            </a:r>
          </a:p>
        </p:txBody>
      </p:sp>
      <p:sp>
        <p:nvSpPr>
          <p:cNvPr id="124" name="rc"/>
          <p:cNvSpPr/>
          <p:nvPr/>
        </p:nvSpPr>
        <p:spPr>
          <a:xfrm>
            <a:off x="3017520" y="2532888"/>
            <a:ext cx="4297680" cy="841248"/>
          </a:xfrm>
          <a:prstGeom prst="rect">
            <a:avLst/>
          </a:prstGeom>
          <a:solidFill>
            <a:srgbClr val="1B2233"/>
          </a:solidFill>
          <a:ln w="6350">
            <a:solidFill>
              <a:srgbClr val="0F1420"/>
            </a:solidFill>
          </a:ln>
        </p:spPr>
        <p:txBody>
          <a:bodyPr/>
          <a:lstStyle/>
          <a:p/>
        </p:txBody>
      </p:sp>
      <p:sp>
        <p:nvSpPr>
          <p:cNvPr id="125" name="tx"/>
          <p:cNvSpPr txBox="1"/>
          <p:nvPr/>
        </p:nvSpPr>
        <p:spPr>
          <a:xfrm>
            <a:off x="3108960" y="2532888"/>
            <a:ext cx="4114800" cy="841248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normAutofit/>
          </a:bodyPr>
          <a:lstStyle/>
          <a:p>
            <a:pPr algn="l">
              <a:buNone/>
            </a:pPr>
            <a:r>
              <a:rPr lang="zh-CN" sz="1200" b="0" i="0">
                <a:solidFill>
                  <a:srgbClr val="E6ECF5"/>
                </a:solidFill>
                <a:latin typeface="微软雅黑"/>
                <a:ea typeface="微软雅黑"/>
              </a:rPr>
              <a:t>有，StreamingAssets 重定向到本地</a:t>
            </a:r>
          </a:p>
        </p:txBody>
      </p:sp>
      <p:sp>
        <p:nvSpPr>
          <p:cNvPr id="126" name="rc"/>
          <p:cNvSpPr/>
          <p:nvPr/>
        </p:nvSpPr>
        <p:spPr>
          <a:xfrm>
            <a:off x="7315200" y="2532888"/>
            <a:ext cx="4297680" cy="841248"/>
          </a:xfrm>
          <a:prstGeom prst="rect">
            <a:avLst/>
          </a:prstGeom>
          <a:solidFill>
            <a:srgbClr val="1B2233"/>
          </a:solidFill>
          <a:ln w="6350">
            <a:solidFill>
              <a:srgbClr val="0F1420"/>
            </a:solidFill>
          </a:ln>
        </p:spPr>
        <p:txBody>
          <a:bodyPr/>
          <a:lstStyle/>
          <a:p/>
        </p:txBody>
      </p:sp>
      <p:sp>
        <p:nvSpPr>
          <p:cNvPr id="127" name="tx"/>
          <p:cNvSpPr txBox="1"/>
          <p:nvPr/>
        </p:nvSpPr>
        <p:spPr>
          <a:xfrm>
            <a:off x="7406640" y="2532888"/>
            <a:ext cx="4114800" cy="841248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normAutofit/>
          </a:bodyPr>
          <a:lstStyle/>
          <a:p>
            <a:pPr algn="l">
              <a:buNone/>
            </a:pPr>
            <a:r>
              <a:rPr lang="zh-CN" sz="1200" b="0" i="0">
                <a:solidFill>
                  <a:srgbClr val="E6ECF5"/>
                </a:solidFill>
                <a:latin typeface="微软雅黑"/>
                <a:ea typeface="微软雅黑"/>
              </a:rPr>
              <a:t>无，全部走 CDN</a:t>
            </a:r>
          </a:p>
        </p:txBody>
      </p:sp>
      <p:sp>
        <p:nvSpPr>
          <p:cNvPr id="128" name="rc"/>
          <p:cNvSpPr/>
          <p:nvPr/>
        </p:nvSpPr>
        <p:spPr>
          <a:xfrm>
            <a:off x="548640" y="3374136"/>
            <a:ext cx="2468880" cy="841248"/>
          </a:xfrm>
          <a:prstGeom prst="rect">
            <a:avLst/>
          </a:prstGeom>
          <a:solidFill>
            <a:srgbClr val="151B2A"/>
          </a:solidFill>
          <a:ln w="6350">
            <a:solidFill>
              <a:srgbClr val="0F1420"/>
            </a:solidFill>
          </a:ln>
        </p:spPr>
        <p:txBody>
          <a:bodyPr/>
          <a:lstStyle/>
          <a:p/>
        </p:txBody>
      </p:sp>
      <p:sp>
        <p:nvSpPr>
          <p:cNvPr id="129" name="tx"/>
          <p:cNvSpPr txBox="1"/>
          <p:nvPr/>
        </p:nvSpPr>
        <p:spPr>
          <a:xfrm>
            <a:off x="640080" y="3374136"/>
            <a:ext cx="2286000" cy="841248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normAutofit/>
          </a:bodyPr>
          <a:lstStyle/>
          <a:p>
            <a:pPr algn="l">
              <a:buNone/>
            </a:pPr>
            <a:r>
              <a:rPr lang="zh-CN" sz="1200" b="1" i="0">
                <a:solidFill>
                  <a:srgbClr val="FFB454"/>
                </a:solidFill>
                <a:latin typeface="微软雅黑"/>
                <a:ea typeface="微软雅黑"/>
              </a:rPr>
              <a:t>bundle 缓存</a:t>
            </a:r>
          </a:p>
        </p:txBody>
      </p:sp>
      <p:sp>
        <p:nvSpPr>
          <p:cNvPr id="130" name="rc"/>
          <p:cNvSpPr/>
          <p:nvPr/>
        </p:nvSpPr>
        <p:spPr>
          <a:xfrm>
            <a:off x="3017520" y="3374136"/>
            <a:ext cx="4297680" cy="841248"/>
          </a:xfrm>
          <a:prstGeom prst="rect">
            <a:avLst/>
          </a:prstGeom>
          <a:solidFill>
            <a:srgbClr val="151B2A"/>
          </a:solidFill>
          <a:ln w="6350">
            <a:solidFill>
              <a:srgbClr val="0F1420"/>
            </a:solidFill>
          </a:ln>
        </p:spPr>
        <p:txBody>
          <a:bodyPr/>
          <a:lstStyle/>
          <a:p/>
        </p:txBody>
      </p:sp>
      <p:sp>
        <p:nvSpPr>
          <p:cNvPr id="131" name="tx"/>
          <p:cNvSpPr txBox="1"/>
          <p:nvPr/>
        </p:nvSpPr>
        <p:spPr>
          <a:xfrm>
            <a:off x="3108960" y="3374136"/>
            <a:ext cx="4114800" cy="841248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normAutofit/>
          </a:bodyPr>
          <a:lstStyle/>
          <a:p>
            <a:pPr algn="l">
              <a:buNone/>
            </a:pPr>
            <a:r>
              <a:rPr lang="zh-CN" sz="1200" b="0" i="0">
                <a:solidFill>
                  <a:srgbClr val="E6ECF5"/>
                </a:solidFill>
                <a:latin typeface="微软雅黑"/>
                <a:ea typeface="微软雅黑"/>
              </a:rPr>
              <a:t>Unity Caching + 加密落盘</a:t>
            </a:r>
          </a:p>
        </p:txBody>
      </p:sp>
      <p:sp>
        <p:nvSpPr>
          <p:cNvPr id="132" name="rc"/>
          <p:cNvSpPr/>
          <p:nvPr/>
        </p:nvSpPr>
        <p:spPr>
          <a:xfrm>
            <a:off x="7315200" y="3374136"/>
            <a:ext cx="4297680" cy="841248"/>
          </a:xfrm>
          <a:prstGeom prst="rect">
            <a:avLst/>
          </a:prstGeom>
          <a:solidFill>
            <a:srgbClr val="151B2A"/>
          </a:solidFill>
          <a:ln w="6350">
            <a:solidFill>
              <a:srgbClr val="0F1420"/>
            </a:solidFill>
          </a:ln>
        </p:spPr>
        <p:txBody>
          <a:bodyPr/>
          <a:lstStyle/>
          <a:p/>
        </p:txBody>
      </p:sp>
      <p:sp>
        <p:nvSpPr>
          <p:cNvPr id="133" name="tx"/>
          <p:cNvSpPr txBox="1"/>
          <p:nvPr/>
        </p:nvSpPr>
        <p:spPr>
          <a:xfrm>
            <a:off x="7406640" y="3374136"/>
            <a:ext cx="4114800" cy="841248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normAutofit/>
          </a:bodyPr>
          <a:lstStyle/>
          <a:p>
            <a:pPr algn="l">
              <a:buNone/>
            </a:pPr>
            <a:r>
              <a:rPr lang="zh-CN" sz="1200" b="0" i="0">
                <a:solidFill>
                  <a:srgbClr val="E6ECF5"/>
                </a:solidFill>
                <a:latin typeface="微软雅黑"/>
                <a:ea typeface="微软雅黑"/>
              </a:rPr>
              <a:t>微信 Emscripten 文件系统</a:t>
            </a:r>
          </a:p>
        </p:txBody>
      </p:sp>
      <p:sp>
        <p:nvSpPr>
          <p:cNvPr id="134" name="rc"/>
          <p:cNvSpPr/>
          <p:nvPr/>
        </p:nvSpPr>
        <p:spPr>
          <a:xfrm>
            <a:off x="548640" y="4215384"/>
            <a:ext cx="2468880" cy="841248"/>
          </a:xfrm>
          <a:prstGeom prst="rect">
            <a:avLst/>
          </a:prstGeom>
          <a:solidFill>
            <a:srgbClr val="1B2233"/>
          </a:solidFill>
          <a:ln w="6350">
            <a:solidFill>
              <a:srgbClr val="0F1420"/>
            </a:solidFill>
          </a:ln>
        </p:spPr>
        <p:txBody>
          <a:bodyPr/>
          <a:lstStyle/>
          <a:p/>
        </p:txBody>
      </p:sp>
      <p:sp>
        <p:nvSpPr>
          <p:cNvPr id="135" name="tx"/>
          <p:cNvSpPr txBox="1"/>
          <p:nvPr/>
        </p:nvSpPr>
        <p:spPr>
          <a:xfrm>
            <a:off x="640080" y="4215384"/>
            <a:ext cx="2286000" cy="841248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normAutofit/>
          </a:bodyPr>
          <a:lstStyle/>
          <a:p>
            <a:pPr algn="l">
              <a:buNone/>
            </a:pPr>
            <a:r>
              <a:rPr lang="zh-CN" sz="1200" b="1" i="0">
                <a:solidFill>
                  <a:srgbClr val="FFB454"/>
                </a:solidFill>
                <a:latin typeface="微软雅黑"/>
                <a:ea typeface="微软雅黑"/>
              </a:rPr>
              <a:t>CDN 切线</a:t>
            </a:r>
          </a:p>
        </p:txBody>
      </p:sp>
      <p:sp>
        <p:nvSpPr>
          <p:cNvPr id="136" name="rc"/>
          <p:cNvSpPr/>
          <p:nvPr/>
        </p:nvSpPr>
        <p:spPr>
          <a:xfrm>
            <a:off x="3017520" y="4215384"/>
            <a:ext cx="4297680" cy="841248"/>
          </a:xfrm>
          <a:prstGeom prst="rect">
            <a:avLst/>
          </a:prstGeom>
          <a:solidFill>
            <a:srgbClr val="1B2233"/>
          </a:solidFill>
          <a:ln w="6350">
            <a:solidFill>
              <a:srgbClr val="0F1420"/>
            </a:solidFill>
          </a:ln>
        </p:spPr>
        <p:txBody>
          <a:bodyPr/>
          <a:lstStyle/>
          <a:p/>
        </p:txBody>
      </p:sp>
      <p:sp>
        <p:nvSpPr>
          <p:cNvPr id="137" name="tx"/>
          <p:cNvSpPr txBox="1"/>
          <p:nvPr/>
        </p:nvSpPr>
        <p:spPr>
          <a:xfrm>
            <a:off x="3108960" y="4215384"/>
            <a:ext cx="4114800" cy="841248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normAutofit/>
          </a:bodyPr>
          <a:lstStyle/>
          <a:p>
            <a:pPr algn="l">
              <a:buNone/>
            </a:pPr>
            <a:r>
              <a:rPr lang="zh-CN" sz="1200" b="0" i="0">
                <a:solidFill>
                  <a:srgbClr val="E6ECF5"/>
                </a:solidFill>
                <a:latin typeface="微软雅黑"/>
                <a:ea typeface="微软雅黑"/>
              </a:rPr>
              <a:t>有（占位符替换 + 切节点）</a:t>
            </a:r>
          </a:p>
        </p:txBody>
      </p:sp>
      <p:sp>
        <p:nvSpPr>
          <p:cNvPr id="138" name="rc"/>
          <p:cNvSpPr/>
          <p:nvPr/>
        </p:nvSpPr>
        <p:spPr>
          <a:xfrm>
            <a:off x="7315200" y="4215384"/>
            <a:ext cx="4297680" cy="841248"/>
          </a:xfrm>
          <a:prstGeom prst="rect">
            <a:avLst/>
          </a:prstGeom>
          <a:solidFill>
            <a:srgbClr val="1B2233"/>
          </a:solidFill>
          <a:ln w="6350">
            <a:solidFill>
              <a:srgbClr val="0F1420"/>
            </a:solidFill>
          </a:ln>
        </p:spPr>
        <p:txBody>
          <a:bodyPr/>
          <a:lstStyle/>
          <a:p/>
        </p:txBody>
      </p:sp>
      <p:sp>
        <p:nvSpPr>
          <p:cNvPr id="139" name="tx"/>
          <p:cNvSpPr txBox="1"/>
          <p:nvPr/>
        </p:nvSpPr>
        <p:spPr>
          <a:xfrm>
            <a:off x="7406640" y="4215384"/>
            <a:ext cx="4114800" cy="841248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normAutofit/>
          </a:bodyPr>
          <a:lstStyle/>
          <a:p>
            <a:pPr algn="l">
              <a:buNone/>
            </a:pPr>
            <a:r>
              <a:rPr lang="zh-CN" sz="1200" b="0" i="0">
                <a:solidFill>
                  <a:srgbClr val="E6ECF5"/>
                </a:solidFill>
                <a:latin typeface="微软雅黑"/>
                <a:ea typeface="微软雅黑"/>
              </a:rPr>
              <a:t>无（URL 即真实域名）</a:t>
            </a:r>
          </a:p>
        </p:txBody>
      </p:sp>
      <p:sp>
        <p:nvSpPr>
          <p:cNvPr id="140" name="rc"/>
          <p:cNvSpPr/>
          <p:nvPr/>
        </p:nvSpPr>
        <p:spPr>
          <a:xfrm>
            <a:off x="548640" y="5056632"/>
            <a:ext cx="2468880" cy="841248"/>
          </a:xfrm>
          <a:prstGeom prst="rect">
            <a:avLst/>
          </a:prstGeom>
          <a:solidFill>
            <a:srgbClr val="151B2A"/>
          </a:solidFill>
          <a:ln w="6350">
            <a:solidFill>
              <a:srgbClr val="0F1420"/>
            </a:solidFill>
          </a:ln>
        </p:spPr>
        <p:txBody>
          <a:bodyPr/>
          <a:lstStyle/>
          <a:p/>
        </p:txBody>
      </p:sp>
      <p:sp>
        <p:nvSpPr>
          <p:cNvPr id="141" name="tx"/>
          <p:cNvSpPr txBox="1"/>
          <p:nvPr/>
        </p:nvSpPr>
        <p:spPr>
          <a:xfrm>
            <a:off x="640080" y="5056632"/>
            <a:ext cx="2286000" cy="841248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normAutofit/>
          </a:bodyPr>
          <a:lstStyle/>
          <a:p>
            <a:pPr algn="l">
              <a:buNone/>
            </a:pPr>
            <a:r>
              <a:rPr lang="zh-CN" sz="1200" b="1" i="0">
                <a:solidFill>
                  <a:srgbClr val="FFB454"/>
                </a:solidFill>
                <a:latin typeface="微软雅黑"/>
                <a:ea typeface="微软雅黑"/>
              </a:rPr>
              <a:t>Assembly.Load</a:t>
            </a:r>
          </a:p>
        </p:txBody>
      </p:sp>
      <p:sp>
        <p:nvSpPr>
          <p:cNvPr id="142" name="rc"/>
          <p:cNvSpPr/>
          <p:nvPr/>
        </p:nvSpPr>
        <p:spPr>
          <a:xfrm>
            <a:off x="3017520" y="5056632"/>
            <a:ext cx="4297680" cy="841248"/>
          </a:xfrm>
          <a:prstGeom prst="rect">
            <a:avLst/>
          </a:prstGeom>
          <a:solidFill>
            <a:srgbClr val="151B2A"/>
          </a:solidFill>
          <a:ln w="6350">
            <a:solidFill>
              <a:srgbClr val="0F1420"/>
            </a:solidFill>
          </a:ln>
        </p:spPr>
        <p:txBody>
          <a:bodyPr/>
          <a:lstStyle/>
          <a:p/>
        </p:txBody>
      </p:sp>
      <p:sp>
        <p:nvSpPr>
          <p:cNvPr id="143" name="tx"/>
          <p:cNvSpPr txBox="1"/>
          <p:nvPr/>
        </p:nvSpPr>
        <p:spPr>
          <a:xfrm>
            <a:off x="3108960" y="5056632"/>
            <a:ext cx="4114800" cy="841248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normAutofit/>
          </a:bodyPr>
          <a:lstStyle/>
          <a:p>
            <a:pPr algn="l">
              <a:buNone/>
            </a:pPr>
            <a:r>
              <a:rPr lang="zh-CN" sz="1200" b="0" i="0">
                <a:solidFill>
                  <a:srgbClr val="E6ECF5"/>
                </a:solidFill>
                <a:latin typeface="微软雅黑"/>
                <a:ea typeface="微软雅黑"/>
              </a:rPr>
              <a:t>工作线程加载，不阻塞主线程</a:t>
            </a:r>
          </a:p>
        </p:txBody>
      </p:sp>
      <p:sp>
        <p:nvSpPr>
          <p:cNvPr id="144" name="rc"/>
          <p:cNvSpPr/>
          <p:nvPr/>
        </p:nvSpPr>
        <p:spPr>
          <a:xfrm>
            <a:off x="7315200" y="5056632"/>
            <a:ext cx="4297680" cy="841248"/>
          </a:xfrm>
          <a:prstGeom prst="rect">
            <a:avLst/>
          </a:prstGeom>
          <a:solidFill>
            <a:srgbClr val="151B2A"/>
          </a:solidFill>
          <a:ln w="6350">
            <a:solidFill>
              <a:srgbClr val="0F1420"/>
            </a:solidFill>
          </a:ln>
        </p:spPr>
        <p:txBody>
          <a:bodyPr/>
          <a:lstStyle/>
          <a:p/>
        </p:txBody>
      </p:sp>
      <p:sp>
        <p:nvSpPr>
          <p:cNvPr id="145" name="tx"/>
          <p:cNvSpPr txBox="1"/>
          <p:nvPr/>
        </p:nvSpPr>
        <p:spPr>
          <a:xfrm>
            <a:off x="7406640" y="5056632"/>
            <a:ext cx="4114800" cy="841248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normAutofit/>
          </a:bodyPr>
          <a:lstStyle/>
          <a:p>
            <a:pPr algn="l">
              <a:buNone/>
            </a:pPr>
            <a:r>
              <a:rPr lang="zh-CN" sz="1200" b="0" i="0">
                <a:solidFill>
                  <a:srgbClr val="E6ECF5"/>
                </a:solidFill>
                <a:latin typeface="微软雅黑"/>
                <a:ea typeface="微软雅黑"/>
              </a:rPr>
              <a:t>WASM 单线程，主线程加载</a:t>
            </a:r>
          </a:p>
        </p:txBody>
      </p:sp>
      <p:sp>
        <p:nvSpPr>
          <p:cNvPr id="146" name="tx"/>
          <p:cNvSpPr txBox="1"/>
          <p:nvPr/>
        </p:nvSpPr>
        <p:spPr>
          <a:xfrm>
            <a:off x="548640" y="6080760"/>
            <a:ext cx="11064240" cy="45720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rmAutofit/>
          </a:bodyPr>
          <a:lstStyle/>
          <a:p>
            <a:pPr algn="l">
              <a:buNone/>
            </a:pPr>
            <a:r>
              <a:rPr lang="zh-CN" sz="1200" b="0" i="0">
                <a:solidFill>
                  <a:srgbClr val="9AA7BD"/>
                </a:solidFill>
                <a:latin typeface="微软雅黑"/>
                <a:ea typeface="微软雅黑"/>
              </a:rPr>
              <a:t>统一点：两端都是远端 Catalog、所有 Group 为 Remote，主流程共用同一套下载/加载代码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rc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20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" name="rc"/>
          <p:cNvSpPr/>
          <p:nvPr/>
        </p:nvSpPr>
        <p:spPr>
          <a:xfrm>
            <a:off x="0" y="502920"/>
            <a:ext cx="128016" cy="868680"/>
          </a:xfrm>
          <a:prstGeom prst="rect">
            <a:avLst/>
          </a:prstGeom>
          <a:solidFill>
            <a:srgbClr val="4EA1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" name="tx"/>
          <p:cNvSpPr txBox="1"/>
          <p:nvPr/>
        </p:nvSpPr>
        <p:spPr>
          <a:xfrm>
            <a:off x="384048" y="457200"/>
            <a:ext cx="10058400" cy="50292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rmAutofit/>
          </a:bodyPr>
          <a:lstStyle/>
          <a:p>
            <a:pPr algn="l">
              <a:buNone/>
            </a:pPr>
            <a:r>
              <a:rPr lang="zh-CN" sz="2600" b="1" i="0">
                <a:solidFill>
                  <a:srgbClr val="FFFFFF"/>
                </a:solidFill>
                <a:latin typeface="微软雅黑"/>
                <a:ea typeface="微软雅黑"/>
              </a:rPr>
              <a:t>工程健壮性设计</a:t>
            </a:r>
          </a:p>
        </p:txBody>
      </p:sp>
      <p:sp>
        <p:nvSpPr>
          <p:cNvPr id="150" name="tx"/>
          <p:cNvSpPr txBox="1"/>
          <p:nvPr/>
        </p:nvSpPr>
        <p:spPr>
          <a:xfrm>
            <a:off x="402336" y="987552"/>
            <a:ext cx="10515600" cy="36576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rmAutofit/>
          </a:bodyPr>
          <a:lstStyle/>
          <a:p>
            <a:pPr algn="l">
              <a:buNone/>
            </a:pPr>
            <a:r>
              <a:rPr lang="zh-CN" sz="1200" b="0" i="0">
                <a:solidFill>
                  <a:srgbClr val="4EA1FF"/>
                </a:solidFill>
                <a:latin typeface="微软雅黑"/>
                <a:ea typeface="微软雅黑"/>
              </a:rPr>
              <a:t>ROBUSTNESS</a:t>
            </a:r>
          </a:p>
        </p:txBody>
      </p:sp>
      <p:sp>
        <p:nvSpPr>
          <p:cNvPr id="151" name="tx"/>
          <p:cNvSpPr txBox="1"/>
          <p:nvPr/>
        </p:nvSpPr>
        <p:spPr>
          <a:xfrm>
            <a:off x="11155680" y="457200"/>
            <a:ext cx="914400" cy="36576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rmAutofit/>
          </a:bodyPr>
          <a:lstStyle/>
          <a:p>
            <a:pPr algn="r">
              <a:buNone/>
            </a:pPr>
            <a:r>
              <a:rPr lang="zh-CN" sz="1400" b="1" i="0">
                <a:solidFill>
                  <a:srgbClr val="9AA7BD"/>
                </a:solidFill>
                <a:latin typeface="微软雅黑"/>
                <a:ea typeface="微软雅黑"/>
              </a:rPr>
              <a:t>09</a:t>
            </a:r>
          </a:p>
        </p:txBody>
      </p:sp>
      <p:sp>
        <p:nvSpPr>
          <p:cNvPr id="152" name="rc"/>
          <p:cNvSpPr/>
          <p:nvPr/>
        </p:nvSpPr>
        <p:spPr>
          <a:xfrm>
            <a:off x="548640" y="1691640"/>
            <a:ext cx="5440680" cy="2011680"/>
          </a:xfrm>
          <a:prstGeom prst="roundRect">
            <a:avLst/>
          </a:prstGeom>
          <a:solidFill>
            <a:srgbClr val="1B2233"/>
          </a:solidFill>
          <a:ln w="12700">
            <a:solidFill>
              <a:srgbClr val="32405C"/>
            </a:solidFill>
          </a:ln>
        </p:spPr>
        <p:txBody>
          <a:bodyPr/>
          <a:lstStyle/>
          <a:p/>
        </p:txBody>
      </p:sp>
      <p:sp>
        <p:nvSpPr>
          <p:cNvPr id="153" name="tx"/>
          <p:cNvSpPr txBox="1"/>
          <p:nvPr/>
        </p:nvSpPr>
        <p:spPr>
          <a:xfrm>
            <a:off x="548640" y="1691640"/>
            <a:ext cx="5440680" cy="201168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normAutofit/>
          </a:bodyPr>
          <a:lstStyle/>
          <a:p>
            <a:pPr algn="ctr">
              <a:buNone/>
            </a:pPr>
            <a:r>
              <a:rPr lang="zh-CN" sz="100" b="1" i="0">
                <a:solidFill>
                  <a:srgbClr val="E6ECF5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154" name="tx"/>
          <p:cNvSpPr txBox="1"/>
          <p:nvPr/>
        </p:nvSpPr>
        <p:spPr>
          <a:xfrm>
            <a:off x="777240" y="1874520"/>
            <a:ext cx="5029200" cy="173736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rmAutofit/>
          </a:bodyPr>
          <a:lstStyle/>
          <a:p>
            <a:pPr algn="l">
              <a:buNone/>
            </a:pPr>
            <a:r>
              <a:rPr lang="zh-CN" sz="1500" b="1" i="0">
                <a:solidFill>
                  <a:srgbClr val="4EA1FF"/>
                </a:solidFill>
                <a:latin typeface="微软雅黑"/>
                <a:ea typeface="微软雅黑"/>
              </a:rPr>
              <a:t>随时修复</a:t>
            </a:r>
          </a:p>
          <a:p>
            <a:pPr algn="l" marL="228600" indent="-228600">
              <a:buFont typeface="Arial"/>
              <a:buChar char="•"/>
              <a:spcBef>
                <a:spcPts val="400"/>
              </a:spcBef>
            </a:pPr>
            <a:r>
              <a:rPr lang="zh-CN" sz="1200" b="0" i="0">
                <a:solidFill>
                  <a:srgbClr val="E6ECF5"/>
                </a:solidFill>
                <a:latin typeface="微软雅黑"/>
                <a:ea typeface="微软雅黑"/>
              </a:rPr>
              <a:t>Loading 界面修复按钮可在任意阶段点</a:t>
            </a:r>
          </a:p>
          <a:p>
            <a:pPr algn="l" marL="228600" indent="-228600">
              <a:buFont typeface="Arial"/>
              <a:buChar char="•"/>
              <a:spcBef>
                <a:spcPts val="300"/>
              </a:spcBef>
            </a:pPr>
            <a:r>
              <a:rPr lang="zh-CN" sz="1200" b="0" i="0">
                <a:solidFill>
                  <a:srgbClr val="E6ECF5"/>
                </a:solidFill>
                <a:latin typeface="微软雅黑"/>
                <a:ea typeface="微软雅黑"/>
              </a:rPr>
              <a:t>先中止在途请求 → 清缓存 → 重走更新</a:t>
            </a:r>
          </a:p>
        </p:txBody>
      </p:sp>
      <p:sp>
        <p:nvSpPr>
          <p:cNvPr id="155" name="rc"/>
          <p:cNvSpPr/>
          <p:nvPr/>
        </p:nvSpPr>
        <p:spPr>
          <a:xfrm>
            <a:off x="6172200" y="1691640"/>
            <a:ext cx="5440680" cy="2011680"/>
          </a:xfrm>
          <a:prstGeom prst="roundRect">
            <a:avLst/>
          </a:prstGeom>
          <a:solidFill>
            <a:srgbClr val="1B2233"/>
          </a:solidFill>
          <a:ln w="12700">
            <a:solidFill>
              <a:srgbClr val="32405C"/>
            </a:solidFill>
          </a:ln>
        </p:spPr>
        <p:txBody>
          <a:bodyPr/>
          <a:lstStyle/>
          <a:p/>
        </p:txBody>
      </p:sp>
      <p:sp>
        <p:nvSpPr>
          <p:cNvPr id="156" name="tx"/>
          <p:cNvSpPr txBox="1"/>
          <p:nvPr/>
        </p:nvSpPr>
        <p:spPr>
          <a:xfrm>
            <a:off x="6172200" y="1691640"/>
            <a:ext cx="5440680" cy="201168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normAutofit/>
          </a:bodyPr>
          <a:lstStyle/>
          <a:p>
            <a:pPr algn="ctr">
              <a:buNone/>
            </a:pPr>
            <a:r>
              <a:rPr lang="zh-CN" sz="100" b="1" i="0">
                <a:solidFill>
                  <a:srgbClr val="E6ECF5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157" name="tx"/>
          <p:cNvSpPr txBox="1"/>
          <p:nvPr/>
        </p:nvSpPr>
        <p:spPr>
          <a:xfrm>
            <a:off x="6400800" y="1874520"/>
            <a:ext cx="5029200" cy="173736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rmAutofit/>
          </a:bodyPr>
          <a:lstStyle/>
          <a:p>
            <a:pPr algn="l">
              <a:buNone/>
            </a:pPr>
            <a:r>
              <a:rPr lang="zh-CN" sz="1500" b="1" i="0">
                <a:solidFill>
                  <a:srgbClr val="FFB454"/>
                </a:solidFill>
                <a:latin typeface="微软雅黑"/>
                <a:ea typeface="微软雅黑"/>
              </a:rPr>
              <a:t>错误分类重试</a:t>
            </a:r>
          </a:p>
          <a:p>
            <a:pPr algn="l" marL="228600" indent="-228600">
              <a:buFont typeface="Arial"/>
              <a:buChar char="•"/>
              <a:spcBef>
                <a:spcPts val="400"/>
              </a:spcBef>
            </a:pPr>
            <a:r>
              <a:rPr lang="zh-CN" sz="1200" b="0" i="0">
                <a:solidFill>
                  <a:srgbClr val="E6ECF5"/>
                </a:solidFill>
                <a:latin typeface="微软雅黑"/>
                <a:ea typeface="微软雅黑"/>
              </a:rPr>
              <a:t>网络类 → 切 CDN 重试</a:t>
            </a:r>
          </a:p>
          <a:p>
            <a:pPr algn="l" marL="228600" indent="-228600">
              <a:buFont typeface="Arial"/>
              <a:buChar char="•"/>
              <a:spcBef>
                <a:spcPts val="300"/>
              </a:spcBef>
            </a:pPr>
            <a:r>
              <a:rPr lang="zh-CN" sz="1200" b="0" i="0">
                <a:solidFill>
                  <a:srgbClr val="E6ECF5"/>
                </a:solidFill>
                <a:latin typeface="微软雅黑"/>
                <a:ea typeface="微软雅黑"/>
              </a:rPr>
              <a:t>内容/磁盘类 → 不切线，走修复或提示</a:t>
            </a:r>
          </a:p>
        </p:txBody>
      </p:sp>
      <p:sp>
        <p:nvSpPr>
          <p:cNvPr id="158" name="rc"/>
          <p:cNvSpPr/>
          <p:nvPr/>
        </p:nvSpPr>
        <p:spPr>
          <a:xfrm>
            <a:off x="548640" y="3886200"/>
            <a:ext cx="5440680" cy="2011680"/>
          </a:xfrm>
          <a:prstGeom prst="roundRect">
            <a:avLst/>
          </a:prstGeom>
          <a:solidFill>
            <a:srgbClr val="1B2233"/>
          </a:solidFill>
          <a:ln w="12700">
            <a:solidFill>
              <a:srgbClr val="32405C"/>
            </a:solidFill>
          </a:ln>
        </p:spPr>
        <p:txBody>
          <a:bodyPr/>
          <a:lstStyle/>
          <a:p/>
        </p:txBody>
      </p:sp>
      <p:sp>
        <p:nvSpPr>
          <p:cNvPr id="159" name="tx"/>
          <p:cNvSpPr txBox="1"/>
          <p:nvPr/>
        </p:nvSpPr>
        <p:spPr>
          <a:xfrm>
            <a:off x="548640" y="3886200"/>
            <a:ext cx="5440680" cy="201168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normAutofit/>
          </a:bodyPr>
          <a:lstStyle/>
          <a:p>
            <a:pPr algn="ctr">
              <a:buNone/>
            </a:pPr>
            <a:r>
              <a:rPr lang="zh-CN" sz="100" b="1" i="0">
                <a:solidFill>
                  <a:srgbClr val="E6ECF5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160" name="tx"/>
          <p:cNvSpPr txBox="1"/>
          <p:nvPr/>
        </p:nvSpPr>
        <p:spPr>
          <a:xfrm>
            <a:off x="777240" y="4069080"/>
            <a:ext cx="5029200" cy="173736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rmAutofit/>
          </a:bodyPr>
          <a:lstStyle/>
          <a:p>
            <a:pPr algn="l">
              <a:buNone/>
            </a:pPr>
            <a:r>
              <a:rPr lang="zh-CN" sz="1500" b="1" i="0">
                <a:solidFill>
                  <a:srgbClr val="53D08A"/>
                </a:solidFill>
                <a:latin typeface="微软雅黑"/>
                <a:ea typeface="微软雅黑"/>
              </a:rPr>
              <a:t>AOT 兼容性前置校验</a:t>
            </a:r>
          </a:p>
          <a:p>
            <a:pPr algn="l" marL="228600" indent="-228600">
              <a:buFont typeface="Arial"/>
              <a:buChar char="•"/>
              <a:spcBef>
                <a:spcPts val="400"/>
              </a:spcBef>
            </a:pPr>
            <a:r>
              <a:rPr lang="zh-CN" sz="1200" b="0" i="0">
                <a:solidFill>
                  <a:srgbClr val="E6ECF5"/>
                </a:solidFill>
                <a:latin typeface="微软雅黑"/>
                <a:ea typeface="微软雅黑"/>
              </a:rPr>
              <a:t>打包阶段用底包归档检查裁剪缺失</a:t>
            </a:r>
          </a:p>
          <a:p>
            <a:pPr algn="l" marL="228600" indent="-228600">
              <a:buFont typeface="Arial"/>
              <a:buChar char="•"/>
              <a:spcBef>
                <a:spcPts val="300"/>
              </a:spcBef>
            </a:pPr>
            <a:r>
              <a:rPr lang="zh-CN" sz="1200" b="0" i="0">
                <a:solidFill>
                  <a:srgbClr val="E6ECF5"/>
                </a:solidFill>
                <a:latin typeface="微软雅黑"/>
                <a:ea typeface="微软雅黑"/>
              </a:rPr>
              <a:t>把只能重出底包的问题拦在发布前</a:t>
            </a:r>
          </a:p>
        </p:txBody>
      </p:sp>
      <p:sp>
        <p:nvSpPr>
          <p:cNvPr id="161" name="rc"/>
          <p:cNvSpPr/>
          <p:nvPr/>
        </p:nvSpPr>
        <p:spPr>
          <a:xfrm>
            <a:off x="6172200" y="3886200"/>
            <a:ext cx="5440680" cy="2011680"/>
          </a:xfrm>
          <a:prstGeom prst="roundRect">
            <a:avLst/>
          </a:prstGeom>
          <a:solidFill>
            <a:srgbClr val="1B2233"/>
          </a:solidFill>
          <a:ln w="12700">
            <a:solidFill>
              <a:srgbClr val="32405C"/>
            </a:solidFill>
          </a:ln>
        </p:spPr>
        <p:txBody>
          <a:bodyPr/>
          <a:lstStyle/>
          <a:p/>
        </p:txBody>
      </p:sp>
      <p:sp>
        <p:nvSpPr>
          <p:cNvPr id="162" name="tx"/>
          <p:cNvSpPr txBox="1"/>
          <p:nvPr/>
        </p:nvSpPr>
        <p:spPr>
          <a:xfrm>
            <a:off x="6172200" y="3886200"/>
            <a:ext cx="5440680" cy="201168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normAutofit/>
          </a:bodyPr>
          <a:lstStyle/>
          <a:p>
            <a:pPr algn="ctr">
              <a:buNone/>
            </a:pPr>
            <a:r>
              <a:rPr lang="zh-CN" sz="100" b="1" i="0">
                <a:solidFill>
                  <a:srgbClr val="E6ECF5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163" name="tx"/>
          <p:cNvSpPr txBox="1"/>
          <p:nvPr/>
        </p:nvSpPr>
        <p:spPr>
          <a:xfrm>
            <a:off x="6400800" y="4069080"/>
            <a:ext cx="5029200" cy="173736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rmAutofit/>
          </a:bodyPr>
          <a:lstStyle/>
          <a:p>
            <a:pPr algn="l">
              <a:buNone/>
            </a:pPr>
            <a:r>
              <a:rPr lang="zh-CN" sz="1500" b="1" i="0">
                <a:solidFill>
                  <a:srgbClr val="4EA1FF"/>
                </a:solidFill>
                <a:latin typeface="微软雅黑"/>
                <a:ea typeface="微软雅黑"/>
              </a:rPr>
              <a:t>分帧加载 + 帧预算</a:t>
            </a:r>
          </a:p>
          <a:p>
            <a:pPr algn="l" marL="228600" indent="-228600">
              <a:buFont typeface="Arial"/>
              <a:buChar char="•"/>
              <a:spcBef>
                <a:spcPts val="400"/>
              </a:spcBef>
            </a:pPr>
            <a:r>
              <a:rPr lang="zh-CN" sz="1200" b="0" i="0">
                <a:solidFill>
                  <a:srgbClr val="E6ECF5"/>
                </a:solidFill>
                <a:latin typeface="微软雅黑"/>
                <a:ea typeface="微软雅黑"/>
              </a:rPr>
              <a:t>19MB 级 DLL 字节按 8ms/帧分摊提取</a:t>
            </a:r>
          </a:p>
          <a:p>
            <a:pPr algn="l" marL="228600" indent="-228600">
              <a:buFont typeface="Arial"/>
              <a:buChar char="•"/>
              <a:spcBef>
                <a:spcPts val="300"/>
              </a:spcBef>
            </a:pPr>
            <a:r>
              <a:rPr lang="zh-CN" sz="1200" b="0" i="0">
                <a:solidFill>
                  <a:srgbClr val="E6ECF5"/>
                </a:solidFill>
                <a:latin typeface="微软雅黑"/>
                <a:ea typeface="微软雅黑"/>
              </a:rPr>
              <a:t>首屏 Loading 动画不卡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rc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20"/>
          </a:solidFill>
          <a:ln>
            <a:noFill/>
          </a:ln>
        </p:spPr>
        <p:txBody>
          <a:bodyPr/>
          <a:lstStyle/>
          <a:p/>
        </p:txBody>
      </p:sp>
      <p:sp>
        <p:nvSpPr>
          <p:cNvPr id="165" name="rc"/>
          <p:cNvSpPr/>
          <p:nvPr/>
        </p:nvSpPr>
        <p:spPr>
          <a:xfrm>
            <a:off x="0" y="502920"/>
            <a:ext cx="128016" cy="868680"/>
          </a:xfrm>
          <a:prstGeom prst="rect">
            <a:avLst/>
          </a:prstGeom>
          <a:solidFill>
            <a:srgbClr val="4EA1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6" name="tx"/>
          <p:cNvSpPr txBox="1"/>
          <p:nvPr/>
        </p:nvSpPr>
        <p:spPr>
          <a:xfrm>
            <a:off x="384048" y="457200"/>
            <a:ext cx="10058400" cy="50292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rmAutofit/>
          </a:bodyPr>
          <a:lstStyle/>
          <a:p>
            <a:pPr algn="l">
              <a:buNone/>
            </a:pPr>
            <a:r>
              <a:rPr lang="zh-CN" sz="2600" b="1" i="0">
                <a:solidFill>
                  <a:srgbClr val="FFFFFF"/>
                </a:solidFill>
                <a:latin typeface="微软雅黑"/>
                <a:ea typeface="微软雅黑"/>
              </a:rPr>
              <a:t>与业内通用做法对照</a:t>
            </a:r>
          </a:p>
        </p:txBody>
      </p:sp>
      <p:sp>
        <p:nvSpPr>
          <p:cNvPr id="167" name="tx"/>
          <p:cNvSpPr txBox="1"/>
          <p:nvPr/>
        </p:nvSpPr>
        <p:spPr>
          <a:xfrm>
            <a:off x="402336" y="987552"/>
            <a:ext cx="10515600" cy="36576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rmAutofit/>
          </a:bodyPr>
          <a:lstStyle/>
          <a:p>
            <a:pPr algn="l">
              <a:buNone/>
            </a:pPr>
            <a:r>
              <a:rPr lang="zh-CN" sz="1200" b="0" i="0">
                <a:solidFill>
                  <a:srgbClr val="4EA1FF"/>
                </a:solidFill>
                <a:latin typeface="微软雅黑"/>
                <a:ea typeface="微软雅黑"/>
              </a:rPr>
              <a:t>SUMMARY</a:t>
            </a:r>
          </a:p>
        </p:txBody>
      </p:sp>
      <p:sp>
        <p:nvSpPr>
          <p:cNvPr id="168" name="tx"/>
          <p:cNvSpPr txBox="1"/>
          <p:nvPr/>
        </p:nvSpPr>
        <p:spPr>
          <a:xfrm>
            <a:off x="11155680" y="457200"/>
            <a:ext cx="914400" cy="365760"/>
          </a:xfrm>
          <a:prstGeom prst="rect">
            <a:avLst/>
          </a:prstGeom>
          <a:noFill/>
        </p:spPr>
        <p:txBody>
          <a:bodyPr wrap="square" anchor="t" lIns="45720" tIns="27432" rIns="45720" bIns="27432">
            <a:normAutofit/>
          </a:bodyPr>
          <a:lstStyle/>
          <a:p>
            <a:pPr algn="r">
              <a:buNone/>
            </a:pPr>
            <a:r>
              <a:rPr lang="zh-CN" sz="1400" b="1" i="0">
                <a:solidFill>
                  <a:srgbClr val="9AA7BD"/>
                </a:solidFill>
                <a:latin typeface="微软雅黑"/>
                <a:ea typeface="微软雅黑"/>
              </a:rPr>
              <a:t>10</a:t>
            </a:r>
          </a:p>
        </p:txBody>
      </p:sp>
      <p:sp>
        <p:nvSpPr>
          <p:cNvPr id="169" name="rc"/>
          <p:cNvSpPr/>
          <p:nvPr/>
        </p:nvSpPr>
        <p:spPr>
          <a:xfrm>
            <a:off x="548640" y="1645920"/>
            <a:ext cx="5394960" cy="658368"/>
          </a:xfrm>
          <a:prstGeom prst="rect">
            <a:avLst/>
          </a:prstGeom>
          <a:solidFill>
            <a:srgbClr val="4EA1FF"/>
          </a:solidFill>
          <a:ln w="6350">
            <a:solidFill>
              <a:srgbClr val="0F1420"/>
            </a:solidFill>
          </a:ln>
        </p:spPr>
        <p:txBody>
          <a:bodyPr/>
          <a:lstStyle/>
          <a:p/>
        </p:txBody>
      </p:sp>
      <p:sp>
        <p:nvSpPr>
          <p:cNvPr id="170" name="tx"/>
          <p:cNvSpPr txBox="1"/>
          <p:nvPr/>
        </p:nvSpPr>
        <p:spPr>
          <a:xfrm>
            <a:off x="658368" y="1645920"/>
            <a:ext cx="5175504" cy="658368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normAutofit/>
          </a:bodyPr>
          <a:lstStyle/>
          <a:p>
            <a:pPr algn="l">
              <a:buNone/>
            </a:pPr>
            <a:r>
              <a:rPr lang="zh-CN" sz="1250" b="1" i="0">
                <a:solidFill>
                  <a:srgbClr val="0F1420"/>
                </a:solidFill>
                <a:latin typeface="微软雅黑"/>
                <a:ea typeface="微软雅黑"/>
              </a:rPr>
              <a:t>业内通用做法</a:t>
            </a:r>
          </a:p>
        </p:txBody>
      </p:sp>
      <p:sp>
        <p:nvSpPr>
          <p:cNvPr id="171" name="rc"/>
          <p:cNvSpPr/>
          <p:nvPr/>
        </p:nvSpPr>
        <p:spPr>
          <a:xfrm>
            <a:off x="5943600" y="1645920"/>
            <a:ext cx="5669280" cy="658368"/>
          </a:xfrm>
          <a:prstGeom prst="rect">
            <a:avLst/>
          </a:prstGeom>
          <a:solidFill>
            <a:srgbClr val="53D08A"/>
          </a:solidFill>
          <a:ln w="6350">
            <a:solidFill>
              <a:srgbClr val="0F1420"/>
            </a:solidFill>
          </a:ln>
        </p:spPr>
        <p:txBody>
          <a:bodyPr/>
          <a:lstStyle/>
          <a:p/>
        </p:txBody>
      </p:sp>
      <p:sp>
        <p:nvSpPr>
          <p:cNvPr id="172" name="tx"/>
          <p:cNvSpPr txBox="1"/>
          <p:nvPr/>
        </p:nvSpPr>
        <p:spPr>
          <a:xfrm>
            <a:off x="6053328" y="1645920"/>
            <a:ext cx="5449824" cy="658368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normAutofit/>
          </a:bodyPr>
          <a:lstStyle/>
          <a:p>
            <a:pPr algn="l">
              <a:buNone/>
            </a:pPr>
            <a:r>
              <a:rPr lang="zh-CN" sz="1250" b="1" i="0">
                <a:solidFill>
                  <a:srgbClr val="0F1420"/>
                </a:solidFill>
                <a:latin typeface="微软雅黑"/>
                <a:ea typeface="微软雅黑"/>
              </a:rPr>
              <a:t>LumiGo 实现</a:t>
            </a:r>
          </a:p>
        </p:txBody>
      </p:sp>
      <p:sp>
        <p:nvSpPr>
          <p:cNvPr id="173" name="rc"/>
          <p:cNvSpPr/>
          <p:nvPr/>
        </p:nvSpPr>
        <p:spPr>
          <a:xfrm>
            <a:off x="548640" y="2304288"/>
            <a:ext cx="5394960" cy="658368"/>
          </a:xfrm>
          <a:prstGeom prst="rect">
            <a:avLst/>
          </a:prstGeom>
          <a:solidFill>
            <a:srgbClr val="1B2233"/>
          </a:solidFill>
          <a:ln w="6350">
            <a:solidFill>
              <a:srgbClr val="0F1420"/>
            </a:solidFill>
          </a:ln>
        </p:spPr>
        <p:txBody>
          <a:bodyPr/>
          <a:lstStyle/>
          <a:p/>
        </p:txBody>
      </p:sp>
      <p:sp>
        <p:nvSpPr>
          <p:cNvPr id="174" name="tx"/>
          <p:cNvSpPr txBox="1"/>
          <p:nvPr/>
        </p:nvSpPr>
        <p:spPr>
          <a:xfrm>
            <a:off x="658368" y="2304288"/>
            <a:ext cx="5175504" cy="658368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normAutofit/>
          </a:bodyPr>
          <a:lstStyle/>
          <a:p>
            <a:pPr algn="l">
              <a:buNone/>
            </a:pPr>
            <a:r>
              <a:rPr lang="zh-CN" sz="1150" b="0" i="0">
                <a:solidFill>
                  <a:srgbClr val="E6ECF5"/>
                </a:solidFill>
                <a:latin typeface="微软雅黑"/>
                <a:ea typeface="微软雅黑"/>
              </a:rPr>
              <a:t>DLL 当普通资源，不造下载器</a:t>
            </a:r>
          </a:p>
        </p:txBody>
      </p:sp>
      <p:sp>
        <p:nvSpPr>
          <p:cNvPr id="175" name="rc"/>
          <p:cNvSpPr/>
          <p:nvPr/>
        </p:nvSpPr>
        <p:spPr>
          <a:xfrm>
            <a:off x="5943600" y="2304288"/>
            <a:ext cx="5669280" cy="658368"/>
          </a:xfrm>
          <a:prstGeom prst="rect">
            <a:avLst/>
          </a:prstGeom>
          <a:solidFill>
            <a:srgbClr val="1B2233"/>
          </a:solidFill>
          <a:ln w="6350">
            <a:solidFill>
              <a:srgbClr val="0F1420"/>
            </a:solidFill>
          </a:ln>
        </p:spPr>
        <p:txBody>
          <a:bodyPr/>
          <a:lstStyle/>
          <a:p/>
        </p:txBody>
      </p:sp>
      <p:sp>
        <p:nvSpPr>
          <p:cNvPr id="176" name="tx"/>
          <p:cNvSpPr txBox="1"/>
          <p:nvPr/>
        </p:nvSpPr>
        <p:spPr>
          <a:xfrm>
            <a:off x="6053328" y="2304288"/>
            <a:ext cx="5449824" cy="658368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normAutofit/>
          </a:bodyPr>
          <a:lstStyle/>
          <a:p>
            <a:pPr algn="l">
              <a:buNone/>
            </a:pPr>
            <a:r>
              <a:rPr lang="zh-CN" sz="1150" b="0" i="0">
                <a:solidFill>
                  <a:srgbClr val="E6ECF5"/>
                </a:solidFill>
                <a:latin typeface="微软雅黑"/>
                <a:ea typeface="微软雅黑"/>
              </a:rPr>
              <a:t>DLL 打进 Dlls Group 走 Addressables</a:t>
            </a:r>
          </a:p>
        </p:txBody>
      </p:sp>
      <p:sp>
        <p:nvSpPr>
          <p:cNvPr id="177" name="rc"/>
          <p:cNvSpPr/>
          <p:nvPr/>
        </p:nvSpPr>
        <p:spPr>
          <a:xfrm>
            <a:off x="548640" y="2962656"/>
            <a:ext cx="5394960" cy="658368"/>
          </a:xfrm>
          <a:prstGeom prst="rect">
            <a:avLst/>
          </a:prstGeom>
          <a:solidFill>
            <a:srgbClr val="151B2A"/>
          </a:solidFill>
          <a:ln w="6350">
            <a:solidFill>
              <a:srgbClr val="0F1420"/>
            </a:solidFill>
          </a:ln>
        </p:spPr>
        <p:txBody>
          <a:bodyPr/>
          <a:lstStyle/>
          <a:p/>
        </p:txBody>
      </p:sp>
      <p:sp>
        <p:nvSpPr>
          <p:cNvPr id="178" name="tx"/>
          <p:cNvSpPr txBox="1"/>
          <p:nvPr/>
        </p:nvSpPr>
        <p:spPr>
          <a:xfrm>
            <a:off x="658368" y="2962656"/>
            <a:ext cx="5175504" cy="658368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normAutofit/>
          </a:bodyPr>
          <a:lstStyle/>
          <a:p>
            <a:pPr algn="l">
              <a:buNone/>
            </a:pPr>
            <a:r>
              <a:rPr lang="zh-CN" sz="1150" b="0" i="0">
                <a:solidFill>
                  <a:srgbClr val="E6ECF5"/>
                </a:solidFill>
                <a:latin typeface="微软雅黑"/>
                <a:ea typeface="微软雅黑"/>
              </a:rPr>
              <a:t>DLL 改 .bytes 规避 Unity 导入</a:t>
            </a:r>
          </a:p>
        </p:txBody>
      </p:sp>
      <p:sp>
        <p:nvSpPr>
          <p:cNvPr id="179" name="rc"/>
          <p:cNvSpPr/>
          <p:nvPr/>
        </p:nvSpPr>
        <p:spPr>
          <a:xfrm>
            <a:off x="5943600" y="2962656"/>
            <a:ext cx="5669280" cy="658368"/>
          </a:xfrm>
          <a:prstGeom prst="rect">
            <a:avLst/>
          </a:prstGeom>
          <a:solidFill>
            <a:srgbClr val="151B2A"/>
          </a:solidFill>
          <a:ln w="6350">
            <a:solidFill>
              <a:srgbClr val="0F1420"/>
            </a:solidFill>
          </a:ln>
        </p:spPr>
        <p:txBody>
          <a:bodyPr/>
          <a:lstStyle/>
          <a:p/>
        </p:txBody>
      </p:sp>
      <p:sp>
        <p:nvSpPr>
          <p:cNvPr id="180" name="tx"/>
          <p:cNvSpPr txBox="1"/>
          <p:nvPr/>
        </p:nvSpPr>
        <p:spPr>
          <a:xfrm>
            <a:off x="6053328" y="2962656"/>
            <a:ext cx="5449824" cy="658368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normAutofit/>
          </a:bodyPr>
          <a:lstStyle/>
          <a:p>
            <a:pPr algn="l">
              <a:buNone/>
            </a:pPr>
            <a:r>
              <a:rPr lang="zh-CN" sz="1150" b="0" i="0">
                <a:solidFill>
                  <a:srgbClr val="E6ECF5"/>
                </a:solidFill>
                <a:latin typeface="微软雅黑"/>
                <a:ea typeface="微软雅黑"/>
              </a:rPr>
              <a:t>HybridCLRExporter 统一拷 *.dll.bytes</a:t>
            </a:r>
          </a:p>
        </p:txBody>
      </p:sp>
      <p:sp>
        <p:nvSpPr>
          <p:cNvPr id="181" name="rc"/>
          <p:cNvSpPr/>
          <p:nvPr/>
        </p:nvSpPr>
        <p:spPr>
          <a:xfrm>
            <a:off x="548640" y="3621024"/>
            <a:ext cx="5394960" cy="658368"/>
          </a:xfrm>
          <a:prstGeom prst="rect">
            <a:avLst/>
          </a:prstGeom>
          <a:solidFill>
            <a:srgbClr val="1B2233"/>
          </a:solidFill>
          <a:ln w="6350">
            <a:solidFill>
              <a:srgbClr val="0F1420"/>
            </a:solidFill>
          </a:ln>
        </p:spPr>
        <p:txBody>
          <a:bodyPr/>
          <a:lstStyle/>
          <a:p/>
        </p:txBody>
      </p:sp>
      <p:sp>
        <p:nvSpPr>
          <p:cNvPr id="182" name="tx"/>
          <p:cNvSpPr txBox="1"/>
          <p:nvPr/>
        </p:nvSpPr>
        <p:spPr>
          <a:xfrm>
            <a:off x="658368" y="3621024"/>
            <a:ext cx="5175504" cy="658368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normAutofit/>
          </a:bodyPr>
          <a:lstStyle/>
          <a:p>
            <a:pPr algn="l">
              <a:buNone/>
            </a:pPr>
            <a:r>
              <a:rPr lang="zh-CN" sz="1150" b="0" i="0">
                <a:solidFill>
                  <a:srgbClr val="E6ECF5"/>
                </a:solidFill>
                <a:latin typeface="微软雅黑"/>
                <a:ea typeface="微软雅黑"/>
              </a:rPr>
              <a:t>manifest/catalog 做版本 hash 比对</a:t>
            </a:r>
          </a:p>
        </p:txBody>
      </p:sp>
      <p:sp>
        <p:nvSpPr>
          <p:cNvPr id="183" name="rc"/>
          <p:cNvSpPr/>
          <p:nvPr/>
        </p:nvSpPr>
        <p:spPr>
          <a:xfrm>
            <a:off x="5943600" y="3621024"/>
            <a:ext cx="5669280" cy="658368"/>
          </a:xfrm>
          <a:prstGeom prst="rect">
            <a:avLst/>
          </a:prstGeom>
          <a:solidFill>
            <a:srgbClr val="1B2233"/>
          </a:solidFill>
          <a:ln w="6350">
            <a:solidFill>
              <a:srgbClr val="0F1420"/>
            </a:solidFill>
          </a:ln>
        </p:spPr>
        <p:txBody>
          <a:bodyPr/>
          <a:lstStyle/>
          <a:p/>
        </p:txBody>
      </p:sp>
      <p:sp>
        <p:nvSpPr>
          <p:cNvPr id="184" name="tx"/>
          <p:cNvSpPr txBox="1"/>
          <p:nvPr/>
        </p:nvSpPr>
        <p:spPr>
          <a:xfrm>
            <a:off x="6053328" y="3621024"/>
            <a:ext cx="5449824" cy="658368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normAutofit/>
          </a:bodyPr>
          <a:lstStyle/>
          <a:p>
            <a:pPr algn="l">
              <a:buNone/>
            </a:pPr>
            <a:r>
              <a:rPr lang="zh-CN" sz="1150" b="0" i="0">
                <a:solidFill>
                  <a:srgbClr val="E6ECF5"/>
                </a:solidFill>
                <a:latin typeface="微软雅黑"/>
                <a:ea typeface="微软雅黑"/>
              </a:rPr>
              <a:t>Addressables 远端 Catalog + catalog_*.hash</a:t>
            </a:r>
          </a:p>
        </p:txBody>
      </p:sp>
      <p:sp>
        <p:nvSpPr>
          <p:cNvPr id="185" name="rc"/>
          <p:cNvSpPr/>
          <p:nvPr/>
        </p:nvSpPr>
        <p:spPr>
          <a:xfrm>
            <a:off x="548640" y="4279392"/>
            <a:ext cx="5394960" cy="658368"/>
          </a:xfrm>
          <a:prstGeom prst="rect">
            <a:avLst/>
          </a:prstGeom>
          <a:solidFill>
            <a:srgbClr val="151B2A"/>
          </a:solidFill>
          <a:ln w="6350">
            <a:solidFill>
              <a:srgbClr val="0F1420"/>
            </a:solidFill>
          </a:ln>
        </p:spPr>
        <p:txBody>
          <a:bodyPr/>
          <a:lstStyle/>
          <a:p/>
        </p:txBody>
      </p:sp>
      <p:sp>
        <p:nvSpPr>
          <p:cNvPr id="186" name="tx"/>
          <p:cNvSpPr txBox="1"/>
          <p:nvPr/>
        </p:nvSpPr>
        <p:spPr>
          <a:xfrm>
            <a:off x="658368" y="4279392"/>
            <a:ext cx="5175504" cy="658368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normAutofit/>
          </a:bodyPr>
          <a:lstStyle/>
          <a:p>
            <a:pPr algn="l">
              <a:buNone/>
            </a:pPr>
            <a:r>
              <a:rPr lang="zh-CN" sz="1150" b="0" i="0">
                <a:solidFill>
                  <a:srgbClr val="E6ECF5"/>
                </a:solidFill>
                <a:latin typeface="微软雅黑"/>
                <a:ea typeface="微软雅黑"/>
              </a:rPr>
              <a:t>先补 AOT 元数据，再 Assembly.Load</a:t>
            </a:r>
          </a:p>
        </p:txBody>
      </p:sp>
      <p:sp>
        <p:nvSpPr>
          <p:cNvPr id="187" name="rc"/>
          <p:cNvSpPr/>
          <p:nvPr/>
        </p:nvSpPr>
        <p:spPr>
          <a:xfrm>
            <a:off x="5943600" y="4279392"/>
            <a:ext cx="5669280" cy="658368"/>
          </a:xfrm>
          <a:prstGeom prst="rect">
            <a:avLst/>
          </a:prstGeom>
          <a:solidFill>
            <a:srgbClr val="151B2A"/>
          </a:solidFill>
          <a:ln w="6350">
            <a:solidFill>
              <a:srgbClr val="0F1420"/>
            </a:solidFill>
          </a:ln>
        </p:spPr>
        <p:txBody>
          <a:bodyPr/>
          <a:lstStyle/>
          <a:p/>
        </p:txBody>
      </p:sp>
      <p:sp>
        <p:nvSpPr>
          <p:cNvPr id="188" name="tx"/>
          <p:cNvSpPr txBox="1"/>
          <p:nvPr/>
        </p:nvSpPr>
        <p:spPr>
          <a:xfrm>
            <a:off x="6053328" y="4279392"/>
            <a:ext cx="5449824" cy="658368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normAutofit/>
          </a:bodyPr>
          <a:lstStyle/>
          <a:p>
            <a:pPr algn="l">
              <a:buNone/>
            </a:pPr>
            <a:r>
              <a:rPr lang="zh-CN" sz="1150" b="0" i="0">
                <a:solidFill>
                  <a:srgbClr val="E6ECF5"/>
                </a:solidFill>
                <a:latin typeface="微软雅黑"/>
                <a:ea typeface="微软雅黑"/>
              </a:rPr>
              <a:t>LoadMetadataForAOTAssembly → Assembly.Load</a:t>
            </a:r>
          </a:p>
        </p:txBody>
      </p:sp>
      <p:sp>
        <p:nvSpPr>
          <p:cNvPr id="189" name="rc"/>
          <p:cNvSpPr/>
          <p:nvPr/>
        </p:nvSpPr>
        <p:spPr>
          <a:xfrm>
            <a:off x="548640" y="4937760"/>
            <a:ext cx="5394960" cy="658368"/>
          </a:xfrm>
          <a:prstGeom prst="rect">
            <a:avLst/>
          </a:prstGeom>
          <a:solidFill>
            <a:srgbClr val="1B2233"/>
          </a:solidFill>
          <a:ln w="6350">
            <a:solidFill>
              <a:srgbClr val="0F1420"/>
            </a:solidFill>
          </a:ln>
        </p:spPr>
        <p:txBody>
          <a:bodyPr/>
          <a:lstStyle/>
          <a:p/>
        </p:txBody>
      </p:sp>
      <p:sp>
        <p:nvSpPr>
          <p:cNvPr id="190" name="tx"/>
          <p:cNvSpPr txBox="1"/>
          <p:nvPr/>
        </p:nvSpPr>
        <p:spPr>
          <a:xfrm>
            <a:off x="658368" y="4937760"/>
            <a:ext cx="5175504" cy="658368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normAutofit/>
          </a:bodyPr>
          <a:lstStyle/>
          <a:p>
            <a:pPr algn="l">
              <a:buNone/>
            </a:pPr>
            <a:r>
              <a:rPr lang="zh-CN" sz="1150" b="0" i="0">
                <a:solidFill>
                  <a:srgbClr val="E6ECF5"/>
                </a:solidFill>
                <a:latin typeface="微软雅黑"/>
                <a:ea typeface="微软雅黑"/>
              </a:rPr>
              <a:t>多 CDN 容灾</a:t>
            </a:r>
          </a:p>
        </p:txBody>
      </p:sp>
      <p:sp>
        <p:nvSpPr>
          <p:cNvPr id="191" name="rc"/>
          <p:cNvSpPr/>
          <p:nvPr/>
        </p:nvSpPr>
        <p:spPr>
          <a:xfrm>
            <a:off x="5943600" y="4937760"/>
            <a:ext cx="5669280" cy="658368"/>
          </a:xfrm>
          <a:prstGeom prst="rect">
            <a:avLst/>
          </a:prstGeom>
          <a:solidFill>
            <a:srgbClr val="1B2233"/>
          </a:solidFill>
          <a:ln w="6350">
            <a:solidFill>
              <a:srgbClr val="0F1420"/>
            </a:solidFill>
          </a:ln>
        </p:spPr>
        <p:txBody>
          <a:bodyPr/>
          <a:lstStyle/>
          <a:p/>
        </p:txBody>
      </p:sp>
      <p:sp>
        <p:nvSpPr>
          <p:cNvPr id="192" name="tx"/>
          <p:cNvSpPr txBox="1"/>
          <p:nvPr/>
        </p:nvSpPr>
        <p:spPr>
          <a:xfrm>
            <a:off x="6053328" y="4937760"/>
            <a:ext cx="5449824" cy="658368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normAutofit/>
          </a:bodyPr>
          <a:lstStyle/>
          <a:p>
            <a:pPr algn="l">
              <a:buNone/>
            </a:pPr>
            <a:r>
              <a:rPr lang="zh-CN" sz="1150" b="0" i="0">
                <a:solidFill>
                  <a:srgbClr val="E6ECF5"/>
                </a:solidFill>
                <a:latin typeface="微软雅黑"/>
                <a:ea typeface="微软雅黑"/>
              </a:rPr>
              <a:t>GameCDNController 切线 + 信用分</a:t>
            </a:r>
          </a:p>
        </p:txBody>
      </p:sp>
      <p:sp>
        <p:nvSpPr>
          <p:cNvPr id="193" name="rc"/>
          <p:cNvSpPr/>
          <p:nvPr/>
        </p:nvSpPr>
        <p:spPr>
          <a:xfrm>
            <a:off x="548640" y="5806440"/>
            <a:ext cx="11064240" cy="822960"/>
          </a:xfrm>
          <a:prstGeom prst="roundRect">
            <a:avLst/>
          </a:prstGeom>
          <a:solidFill>
            <a:srgbClr val="1B2233"/>
          </a:solidFill>
          <a:ln w="12700">
            <a:solidFill>
              <a:srgbClr val="4EA1FF"/>
            </a:solidFill>
          </a:ln>
        </p:spPr>
        <p:txBody>
          <a:bodyPr/>
          <a:lstStyle/>
          <a:p/>
        </p:txBody>
      </p:sp>
      <p:sp>
        <p:nvSpPr>
          <p:cNvPr id="194" name="tx"/>
          <p:cNvSpPr txBox="1"/>
          <p:nvPr/>
        </p:nvSpPr>
        <p:spPr>
          <a:xfrm>
            <a:off x="548640" y="5806440"/>
            <a:ext cx="11064240" cy="822960"/>
          </a:xfrm>
          <a:prstGeom prst="rect">
            <a:avLst/>
          </a:prstGeom>
          <a:noFill/>
        </p:spPr>
        <p:txBody>
          <a:bodyPr wrap="square" anchor="ctr" lIns="45720" tIns="27432" rIns="45720" bIns="27432">
            <a:normAutofit/>
          </a:bodyPr>
          <a:lstStyle/>
          <a:p>
            <a:pPr algn="ctr">
              <a:buNone/>
            </a:pPr>
            <a:r>
              <a:rPr lang="zh-CN" sz="1400" b="1" i="0">
                <a:solidFill>
                  <a:srgbClr val="FFFFFF"/>
                </a:solidFill>
                <a:latin typeface="微软雅黑"/>
                <a:ea typeface="微软雅黑"/>
              </a:rPr>
              <a:t>结论：主流 "HybridCLR + Addressables 远端 Catalog + CDN" 方案的工业级完整实现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LumiGo">
  <a:themeElements>
    <a:clrScheme name="LumiGo">
      <a:dk1>
        <a:srgbClr val="0F1420"/>
      </a:dk1>
      <a:lt1>
        <a:srgbClr val="FFFFFF"/>
      </a:lt1>
      <a:dk2>
        <a:srgbClr val="1B2233"/>
      </a:dk2>
      <a:lt2>
        <a:srgbClr val="E6ECF5"/>
      </a:lt2>
      <a:accent1>
        <a:srgbClr val="4EA1FF"/>
      </a:accent1>
      <a:accent2>
        <a:srgbClr val="FFB454"/>
      </a:accent2>
      <a:accent3>
        <a:srgbClr val="53D08A"/>
      </a:accent3>
      <a:accent4>
        <a:srgbClr val="9AA7BD"/>
      </a:accent4>
      <a:accent5>
        <a:srgbClr val="32405C"/>
      </a:accent5>
      <a:accent6>
        <a:srgbClr val="B7C6E0"/>
      </a:accent6>
      <a:hlink>
        <a:srgbClr val="4EA1FF"/>
      </a:hlink>
      <a:folHlink>
        <a:srgbClr val="9AA7BD"/>
      </a:folHlink>
    </a:clrScheme>
    <a:fontScheme name="LumiGo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LumiGo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Node OOXML</Application>
  <Slides>10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LumiGo 客户端热更技术框架</dc:title>
  <dc:creator>Client Team</dc:creator>
</cp:coreProperties>
</file>